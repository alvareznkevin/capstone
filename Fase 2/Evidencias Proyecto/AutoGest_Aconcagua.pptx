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Arial Bold" charset="1" panose="020B0704020202020204"/>
      <p:regular r:id="rId33"/>
    </p:embeddedFont>
    <p:embeddedFont>
      <p:font typeface="Arial" charset="1" panose="020B0604020202020204"/>
      <p:regular r:id="rId34"/>
    </p:embeddedFont>
    <p:embeddedFont>
      <p:font typeface="Arial Nova Bold" charset="1" panose="020B0804020202020204"/>
      <p:regular r:id="rId37"/>
    </p:embeddedFont>
    <p:embeddedFont>
      <p:font typeface="Arial Nova" charset="1" panose="020B05040202020202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notesMasters/notesMaster1.xml" Type="http://schemas.openxmlformats.org/officeDocument/2006/relationships/notesMaster"/><Relationship Id="rId31" Target="theme/theme2.xml" Type="http://schemas.openxmlformats.org/officeDocument/2006/relationships/theme"/><Relationship Id="rId32" Target="notesSlides/notesSlide1.xml" Type="http://schemas.openxmlformats.org/officeDocument/2006/relationships/notes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notesSlides/notesSlide2.xml" Type="http://schemas.openxmlformats.org/officeDocument/2006/relationships/notesSlide"/><Relationship Id="rId36" Target="notesSlides/notesSlide3.xml" Type="http://schemas.openxmlformats.org/officeDocument/2006/relationships/notes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notesSlides/notesSlide4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5.xml" Type="http://schemas.openxmlformats.org/officeDocument/2006/relationships/notesSlide"/><Relationship Id="rId41" Target="notesSlides/notesSlide6.xml" Type="http://schemas.openxmlformats.org/officeDocument/2006/relationships/notesSlide"/><Relationship Id="rId42" Target="notesSlides/notesSlide7.xml" Type="http://schemas.openxmlformats.org/officeDocument/2006/relationships/notesSlide"/><Relationship Id="rId43" Target="notesSlides/notesSlide8.xml" Type="http://schemas.openxmlformats.org/officeDocument/2006/relationships/notesSlide"/><Relationship Id="rId44" Target="notesSlides/notesSlide9.xml" Type="http://schemas.openxmlformats.org/officeDocument/2006/relationships/notesSlide"/><Relationship Id="rId45" Target="notesSlides/notesSlide10.xml" Type="http://schemas.openxmlformats.org/officeDocument/2006/relationships/notesSlide"/><Relationship Id="rId46" Target="notesSlides/notesSlide11.xml" Type="http://schemas.openxmlformats.org/officeDocument/2006/relationships/notesSlide"/><Relationship Id="rId47" Target="notesSlides/notesSlide12.xml" Type="http://schemas.openxmlformats.org/officeDocument/2006/relationships/notesSlide"/><Relationship Id="rId48" Target="notesSlides/notesSlide13.xml" Type="http://schemas.openxmlformats.org/officeDocument/2006/relationships/notesSlide"/><Relationship Id="rId49" Target="notesSlides/notesSlide14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5.xml" Type="http://schemas.openxmlformats.org/officeDocument/2006/relationships/notesSlide"/><Relationship Id="rId51" Target="notesSlides/notesSlide16.xml" Type="http://schemas.openxmlformats.org/officeDocument/2006/relationships/notesSlide"/><Relationship Id="rId52" Target="notesSlides/notesSlide17.xml" Type="http://schemas.openxmlformats.org/officeDocument/2006/relationships/notesSlide"/><Relationship Id="rId53" Target="notesSlides/notesSlide18.xml" Type="http://schemas.openxmlformats.org/officeDocument/2006/relationships/notesSlide"/><Relationship Id="rId54" Target="notesSlides/notesSlide19.xml" Type="http://schemas.openxmlformats.org/officeDocument/2006/relationships/notesSlide"/><Relationship Id="rId55" Target="notesSlides/notesSlide20.xml" Type="http://schemas.openxmlformats.org/officeDocument/2006/relationships/notesSlide"/><Relationship Id="rId56" Target="notesSlides/notesSlide21.xml" Type="http://schemas.openxmlformats.org/officeDocument/2006/relationships/notesSlide"/><Relationship Id="rId57" Target="notesSlides/notesSlide22.xml" Type="http://schemas.openxmlformats.org/officeDocument/2006/relationships/notesSlide"/><Relationship Id="rId58" Target="notesSlides/notesSlide23.xml" Type="http://schemas.openxmlformats.org/officeDocument/2006/relationships/notesSlide"/><Relationship Id="rId59" Target="notesSlides/notesSlide24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Thesis Defense.pdf, diapositiva 1.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Thesis Defense.pdf, diapositiva 2.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Thesis Defense.pdf, diapositiva 3.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Thesis Defense.pdf, diapositiva 4.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Thesis Defense.pdf, diapositiva 5.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Thesis Defense.pdf, diapositiva 6.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Thesis Defense.pdf, diapositiva 7.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Thesis Defense.pdf, diapositiva 8.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Thesis Defense.pdf, diapositiva 9.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Thesis Defense.pdf, diapositiva 10.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Thesis Defense.pdf, diapositiva 11.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Thesis Defense.pdf, diapositiva 12.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Thesis Defense.pdf, diapositiva 13.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Thesis Defense.pdf, diapositiva 14.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Thesis Defense.pdf, diapositiva 15.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Thesis Defense.pdf, diapositiva 16.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Thesis Defense.pdf, diapositiva 17.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Thesis Defense.pdf, diapositiva 18.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Thesis Defense.pdf, diapositiva 19.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Thesis Defense.pdf, diapositiva 20.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Thesis Defense.pdf, diapositiva 20.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Carta_Gantt_AutoGest_15_Semanas.xlsx ajustada a 15 semanas. Sprint 0: S1–S4; Sprint 1: S5–S8; Sprint 2: S9–S11; Sprint 3: S12–S14; Sprint 4: S15. Semana actual S10. Las filas resumen actividades del cronograma, sin afirmar su grado de finalización. Pruebas y revisiones se mantienen dentro de cada sprint.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Thesis Defense.pdf, diapositiva 22.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Fuente: Thesis Defense.pdf, diapositiva 23.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2D37">
                <a:alpha val="100000"/>
              </a:srgbClr>
            </a:gs>
            <a:gs pos="100000">
              <a:srgbClr val="18433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8997" y="434978"/>
            <a:ext cx="3048000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AutoGest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1703" y="895350"/>
            <a:ext cx="3174997" cy="29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ACONCAGUA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47997" y="504825"/>
            <a:ext cx="1650997" cy="95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799" b="true">
                <a:solidFill>
                  <a:srgbClr val="436C6E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09997" y="9505950"/>
            <a:ext cx="888997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8997" y="9505950"/>
            <a:ext cx="7620000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Sistema de Gestión Automotriz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13954" y="7048500"/>
            <a:ext cx="6297082" cy="2159003"/>
            <a:chOff x="0" y="0"/>
            <a:chExt cx="8396110" cy="28786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396097" cy="2878709"/>
            </a:xfrm>
            <a:custGeom>
              <a:avLst/>
              <a:gdLst/>
              <a:ahLst/>
              <a:cxnLst/>
              <a:rect r="r" b="b" t="t" l="l"/>
              <a:pathLst>
                <a:path h="2878709" w="8396097">
                  <a:moveTo>
                    <a:pt x="0" y="0"/>
                  </a:moveTo>
                  <a:lnTo>
                    <a:pt x="8396097" y="0"/>
                  </a:lnTo>
                  <a:lnTo>
                    <a:pt x="8396097" y="2878709"/>
                  </a:lnTo>
                  <a:lnTo>
                    <a:pt x="0" y="2878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88997" y="2012947"/>
            <a:ext cx="8889997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DEFENSA DEL PROYECTO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8997" y="2765422"/>
            <a:ext cx="10541003" cy="269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84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AutoGest</a:t>
            </a:r>
          </a:p>
          <a:p>
            <a:pPr algn="l">
              <a:lnSpc>
                <a:spcPts val="10080"/>
              </a:lnSpc>
            </a:pPr>
            <a:r>
              <a:rPr lang="en-US" sz="84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Aconcagua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5622922"/>
            <a:ext cx="10160003" cy="727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B6D0D3"/>
                </a:solidFill>
                <a:latin typeface="Arial"/>
                <a:ea typeface="Arial"/>
                <a:cs typeface="Arial"/>
                <a:sym typeface="Arial"/>
              </a:rPr>
              <a:t>Sistema de Gestión Automotriz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208003" y="2031997"/>
            <a:ext cx="4191000" cy="6032497"/>
            <a:chOff x="0" y="0"/>
            <a:chExt cx="5588000" cy="80433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588000" cy="8043291"/>
            </a:xfrm>
            <a:custGeom>
              <a:avLst/>
              <a:gdLst/>
              <a:ahLst/>
              <a:cxnLst/>
              <a:rect r="r" b="b" t="t" l="l"/>
              <a:pathLst>
                <a:path h="8043291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8043291"/>
                  </a:lnTo>
                  <a:lnTo>
                    <a:pt x="0" y="8043291"/>
                  </a:lnTo>
                  <a:close/>
                </a:path>
              </a:pathLst>
            </a:custGeom>
            <a:solidFill>
              <a:srgbClr val="1C4148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589003" y="2457450"/>
            <a:ext cx="3302003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Integrantes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589003" y="3092453"/>
            <a:ext cx="3302003" cy="1797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Lucas Palma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Kevin Alvarez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David Velasco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89003" y="5378453"/>
            <a:ext cx="330200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Asignatura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89003" y="5895975"/>
            <a:ext cx="3302003" cy="517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Capstone 002D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89003" y="6902453"/>
            <a:ext cx="3302003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Profesor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89003" y="7356472"/>
            <a:ext cx="3555997" cy="517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Mauricio Figueroa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32D37">
                <a:alpha val="100000"/>
              </a:srgbClr>
            </a:gs>
            <a:gs pos="100000">
              <a:srgbClr val="12383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8997" y="434978"/>
            <a:ext cx="3048000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AutoGest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1703" y="895350"/>
            <a:ext cx="3174997" cy="29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ACONCAGUA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47997" y="504825"/>
            <a:ext cx="1650997" cy="95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799" b="true">
                <a:solidFill>
                  <a:srgbClr val="436C6E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8997" y="1543050"/>
            <a:ext cx="16509997" cy="128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Tabla de contenidos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8997" y="2844803"/>
            <a:ext cx="1143000" cy="50797"/>
            <a:chOff x="0" y="0"/>
            <a:chExt cx="1524000" cy="677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0" cy="67691"/>
            </a:xfrm>
            <a:custGeom>
              <a:avLst/>
              <a:gdLst/>
              <a:ahLst/>
              <a:cxnLst/>
              <a:rect r="r" b="b" t="t" l="l"/>
              <a:pathLst>
                <a:path h="67691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12997" y="2870197"/>
            <a:ext cx="14985997" cy="12697"/>
            <a:chOff x="0" y="0"/>
            <a:chExt cx="199813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81290" cy="16891"/>
            </a:xfrm>
            <a:custGeom>
              <a:avLst/>
              <a:gdLst/>
              <a:ahLst/>
              <a:cxnLst/>
              <a:rect r="r" b="b" t="t" l="l"/>
              <a:pathLst>
                <a:path h="16891" w="19981290">
                  <a:moveTo>
                    <a:pt x="0" y="0"/>
                  </a:moveTo>
                  <a:lnTo>
                    <a:pt x="19981290" y="0"/>
                  </a:lnTo>
                  <a:lnTo>
                    <a:pt x="1998129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34545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9997" y="9505950"/>
            <a:ext cx="888997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8997" y="9505950"/>
            <a:ext cx="7620000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Sistema de Gestión Automotriz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88997" y="3479797"/>
            <a:ext cx="7620000" cy="673103"/>
            <a:chOff x="0" y="0"/>
            <a:chExt cx="10160000" cy="8974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60000" cy="897509"/>
            </a:xfrm>
            <a:custGeom>
              <a:avLst/>
              <a:gdLst/>
              <a:ahLst/>
              <a:cxnLst/>
              <a:rect r="r" b="b" t="t" l="l"/>
              <a:pathLst>
                <a:path h="897509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897509"/>
                  </a:lnTo>
                  <a:lnTo>
                    <a:pt x="0" y="8975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88997" y="3536947"/>
            <a:ext cx="825503" cy="52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68503" y="3536947"/>
            <a:ext cx="641349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88997" y="4305300"/>
            <a:ext cx="7620000" cy="673103"/>
            <a:chOff x="0" y="0"/>
            <a:chExt cx="10160000" cy="8974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60000" cy="897509"/>
            </a:xfrm>
            <a:custGeom>
              <a:avLst/>
              <a:gdLst/>
              <a:ahLst/>
              <a:cxnLst/>
              <a:rect r="r" b="b" t="t" l="l"/>
              <a:pathLst>
                <a:path h="897509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897509"/>
                  </a:lnTo>
                  <a:lnTo>
                    <a:pt x="0" y="8975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88997" y="4362450"/>
            <a:ext cx="825503" cy="52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68503" y="4362450"/>
            <a:ext cx="641349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Problemática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88997" y="5130803"/>
            <a:ext cx="7620000" cy="673103"/>
            <a:chOff x="0" y="0"/>
            <a:chExt cx="10160000" cy="8974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160000" cy="897509"/>
            </a:xfrm>
            <a:custGeom>
              <a:avLst/>
              <a:gdLst/>
              <a:ahLst/>
              <a:cxnLst/>
              <a:rect r="r" b="b" t="t" l="l"/>
              <a:pathLst>
                <a:path h="897509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897509"/>
                  </a:lnTo>
                  <a:lnTo>
                    <a:pt x="0" y="8975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88997" y="5187953"/>
            <a:ext cx="825503" cy="52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68503" y="5187953"/>
            <a:ext cx="641349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88997" y="5956297"/>
            <a:ext cx="7620000" cy="673103"/>
            <a:chOff x="0" y="0"/>
            <a:chExt cx="10160000" cy="8974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60000" cy="897509"/>
            </a:xfrm>
            <a:custGeom>
              <a:avLst/>
              <a:gdLst/>
              <a:ahLst/>
              <a:cxnLst/>
              <a:rect r="r" b="b" t="t" l="l"/>
              <a:pathLst>
                <a:path h="897509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897509"/>
                  </a:lnTo>
                  <a:lnTo>
                    <a:pt x="0" y="8975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888997" y="6013447"/>
            <a:ext cx="825503" cy="52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68503" y="6013447"/>
            <a:ext cx="641349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88997" y="6781800"/>
            <a:ext cx="7620000" cy="673103"/>
            <a:chOff x="0" y="0"/>
            <a:chExt cx="10160000" cy="8974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160000" cy="897509"/>
            </a:xfrm>
            <a:custGeom>
              <a:avLst/>
              <a:gdLst/>
              <a:ahLst/>
              <a:cxnLst/>
              <a:rect r="r" b="b" t="t" l="l"/>
              <a:pathLst>
                <a:path h="897509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897509"/>
                  </a:lnTo>
                  <a:lnTo>
                    <a:pt x="0" y="8975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888997" y="6838950"/>
            <a:ext cx="825503" cy="52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968503" y="6838950"/>
            <a:ext cx="641349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Solución Propuesta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88997" y="7607303"/>
            <a:ext cx="7620000" cy="673103"/>
            <a:chOff x="0" y="0"/>
            <a:chExt cx="10160000" cy="8974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160000" cy="897509"/>
            </a:xfrm>
            <a:custGeom>
              <a:avLst/>
              <a:gdLst/>
              <a:ahLst/>
              <a:cxnLst/>
              <a:rect r="r" b="b" t="t" l="l"/>
              <a:pathLst>
                <a:path h="897509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897509"/>
                  </a:lnTo>
                  <a:lnTo>
                    <a:pt x="0" y="8975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888997" y="7664453"/>
            <a:ext cx="825503" cy="52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06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968503" y="7664453"/>
            <a:ext cx="641349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Épicas del Proyecto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651997" y="3479797"/>
            <a:ext cx="7620000" cy="673103"/>
            <a:chOff x="0" y="0"/>
            <a:chExt cx="10160000" cy="89747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160000" cy="897509"/>
            </a:xfrm>
            <a:custGeom>
              <a:avLst/>
              <a:gdLst/>
              <a:ahLst/>
              <a:cxnLst/>
              <a:rect r="r" b="b" t="t" l="l"/>
              <a:pathLst>
                <a:path h="897509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897509"/>
                  </a:lnTo>
                  <a:lnTo>
                    <a:pt x="0" y="8975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9651997" y="3536947"/>
            <a:ext cx="825503" cy="52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07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731503" y="3536947"/>
            <a:ext cx="641349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Historias de Usuario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651997" y="4305300"/>
            <a:ext cx="7620000" cy="673103"/>
            <a:chOff x="0" y="0"/>
            <a:chExt cx="10160000" cy="89747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160000" cy="897509"/>
            </a:xfrm>
            <a:custGeom>
              <a:avLst/>
              <a:gdLst/>
              <a:ahLst/>
              <a:cxnLst/>
              <a:rect r="r" b="b" t="t" l="l"/>
              <a:pathLst>
                <a:path h="897509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897509"/>
                  </a:lnTo>
                  <a:lnTo>
                    <a:pt x="0" y="8975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651997" y="4362450"/>
            <a:ext cx="825503" cy="52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08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731503" y="4362450"/>
            <a:ext cx="641349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Modelo de Datos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651997" y="5130803"/>
            <a:ext cx="7620000" cy="673103"/>
            <a:chOff x="0" y="0"/>
            <a:chExt cx="10160000" cy="89747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160000" cy="897509"/>
            </a:xfrm>
            <a:custGeom>
              <a:avLst/>
              <a:gdLst/>
              <a:ahLst/>
              <a:cxnLst/>
              <a:rect r="r" b="b" t="t" l="l"/>
              <a:pathLst>
                <a:path h="897509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897509"/>
                  </a:lnTo>
                  <a:lnTo>
                    <a:pt x="0" y="8975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9651997" y="5187953"/>
            <a:ext cx="825503" cy="52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09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731503" y="5187953"/>
            <a:ext cx="641349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Metodología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9651997" y="5956297"/>
            <a:ext cx="7620000" cy="673103"/>
            <a:chOff x="0" y="0"/>
            <a:chExt cx="10160000" cy="89747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160000" cy="897509"/>
            </a:xfrm>
            <a:custGeom>
              <a:avLst/>
              <a:gdLst/>
              <a:ahLst/>
              <a:cxnLst/>
              <a:rect r="r" b="b" t="t" l="l"/>
              <a:pathLst>
                <a:path h="897509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897509"/>
                  </a:lnTo>
                  <a:lnTo>
                    <a:pt x="0" y="8975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9651997" y="6013447"/>
            <a:ext cx="825503" cy="52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10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731503" y="6013447"/>
            <a:ext cx="641349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Cronograma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651997" y="6781800"/>
            <a:ext cx="7620000" cy="673103"/>
            <a:chOff x="0" y="0"/>
            <a:chExt cx="10160000" cy="89747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160000" cy="897509"/>
            </a:xfrm>
            <a:custGeom>
              <a:avLst/>
              <a:gdLst/>
              <a:ahLst/>
              <a:cxnLst/>
              <a:rect r="r" b="b" t="t" l="l"/>
              <a:pathLst>
                <a:path h="897509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897509"/>
                  </a:lnTo>
                  <a:lnTo>
                    <a:pt x="0" y="8975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9651997" y="6838950"/>
            <a:ext cx="825503" cy="52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11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731503" y="6838950"/>
            <a:ext cx="641349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Equipo de Trabajo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651997" y="7607303"/>
            <a:ext cx="7620000" cy="673103"/>
            <a:chOff x="0" y="0"/>
            <a:chExt cx="10160000" cy="89747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160000" cy="897509"/>
            </a:xfrm>
            <a:custGeom>
              <a:avLst/>
              <a:gdLst/>
              <a:ahLst/>
              <a:cxnLst/>
              <a:rect r="r" b="b" t="t" l="l"/>
              <a:pathLst>
                <a:path h="897509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897509"/>
                  </a:lnTo>
                  <a:lnTo>
                    <a:pt x="0" y="8975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9651997" y="7664453"/>
            <a:ext cx="825503" cy="52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12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731503" y="7664453"/>
            <a:ext cx="641349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8960" y="486381"/>
            <a:ext cx="1471157" cy="352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8"/>
              </a:lnSpc>
            </a:pPr>
            <a:r>
              <a:rPr lang="en-US" sz="2526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AutoGest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9304" y="1720627"/>
            <a:ext cx="2721138" cy="674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1"/>
              </a:lnSpc>
            </a:pPr>
            <a:r>
              <a:rPr lang="en-US" sz="4803" b="true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Contexto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7700" y="2781300"/>
            <a:ext cx="1314450" cy="219075"/>
          </a:xfrm>
          <a:custGeom>
            <a:avLst/>
            <a:gdLst/>
            <a:ahLst/>
            <a:cxnLst/>
            <a:rect r="r" b="b" t="t" l="l"/>
            <a:pathLst>
              <a:path h="219075" w="1314450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71700" y="2781300"/>
            <a:ext cx="15468600" cy="219075"/>
          </a:xfrm>
          <a:custGeom>
            <a:avLst/>
            <a:gdLst/>
            <a:ahLst/>
            <a:cxnLst/>
            <a:rect r="r" b="b" t="t" l="l"/>
            <a:pathLst>
              <a:path h="219075" w="15468600">
                <a:moveTo>
                  <a:pt x="0" y="0"/>
                </a:moveTo>
                <a:lnTo>
                  <a:pt x="15468600" y="0"/>
                </a:lnTo>
                <a:lnTo>
                  <a:pt x="15468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14300" y="3634194"/>
            <a:ext cx="2863738" cy="616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0"/>
              </a:lnSpc>
            </a:pPr>
            <a:r>
              <a:rPr lang="en-US" sz="4447" b="true">
                <a:solidFill>
                  <a:srgbClr val="92CEB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San Felipe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3639" y="4397550"/>
            <a:ext cx="2929838" cy="39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399">
                <a:solidFill>
                  <a:srgbClr val="FFFFFF">
                    <a:alpha val="60000"/>
                  </a:srgbClr>
                </a:solidFill>
                <a:latin typeface="Arial Nova"/>
                <a:ea typeface="Arial Nova"/>
                <a:cs typeface="Arial Nova"/>
                <a:sym typeface="Arial Nova"/>
              </a:rPr>
              <a:t>Región de Valparaíso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2938" y="5580811"/>
            <a:ext cx="6161484" cy="111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2188">
                <a:solidFill>
                  <a:srgbClr val="FFFFFF">
                    <a:alpha val="89804"/>
                  </a:srgbClr>
                </a:solidFill>
                <a:latin typeface="Arial Nova"/>
                <a:ea typeface="Arial Nova"/>
                <a:cs typeface="Arial Nova"/>
                <a:sym typeface="Arial Nova"/>
              </a:rPr>
              <a:t>Proyecto desarrollado para una automotora pequeña/mediana dedicada a la compra y venta de automóviles, camionetas y camiones.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2938" y="7178109"/>
            <a:ext cx="6161484" cy="111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2188">
                <a:solidFill>
                  <a:srgbClr val="FFFFFF">
                    <a:alpha val="89804"/>
                  </a:srgbClr>
                </a:solidFill>
                <a:latin typeface="Arial Nova"/>
                <a:ea typeface="Arial Nova"/>
                <a:cs typeface="Arial Nova"/>
                <a:sym typeface="Arial Nova"/>
              </a:rPr>
              <a:t>El negocio cuenta con vehículos disponibles tanto en el local como en plataformas online, siendo gestionado principalmente por su dueño.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962775" y="3429000"/>
            <a:ext cx="10896600" cy="4714875"/>
          </a:xfrm>
          <a:custGeom>
            <a:avLst/>
            <a:gdLst/>
            <a:ahLst/>
            <a:cxnLst/>
            <a:rect r="r" b="b" t="t" l="l"/>
            <a:pathLst>
              <a:path h="4714875" w="10896600">
                <a:moveTo>
                  <a:pt x="0" y="0"/>
                </a:moveTo>
                <a:lnTo>
                  <a:pt x="10896600" y="0"/>
                </a:lnTo>
                <a:lnTo>
                  <a:pt x="10896600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954945" y="590564"/>
            <a:ext cx="828111" cy="79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107"/>
              </a:lnSpc>
            </a:pPr>
            <a:r>
              <a:rPr lang="en-US" sz="5554" b="true">
                <a:solidFill>
                  <a:srgbClr val="FFFFFF">
                    <a:alpha val="29804"/>
                  </a:srgbClr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5178" y="9479107"/>
            <a:ext cx="2849406" cy="25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546">
                <a:solidFill>
                  <a:srgbClr val="FFFFFF">
                    <a:alpha val="60000"/>
                  </a:srgbClr>
                </a:solidFill>
                <a:latin typeface="Arial Nova"/>
                <a:ea typeface="Arial Nova"/>
                <a:cs typeface="Arial Nova"/>
                <a:sym typeface="Arial Nova"/>
              </a:rPr>
              <a:t>Sistema de Gestión Automotriz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3430" y="920639"/>
            <a:ext cx="1024182" cy="194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3"/>
              </a:lnSpc>
            </a:pPr>
            <a:r>
              <a:rPr lang="en-US" sz="1195" b="true">
                <a:solidFill>
                  <a:srgbClr val="92CEB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ACONCAGUA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98108" y="9479107"/>
            <a:ext cx="231489" cy="25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6"/>
              </a:lnSpc>
            </a:pPr>
            <a:r>
              <a:rPr lang="en-US" sz="1546">
                <a:solidFill>
                  <a:srgbClr val="FFFFFF">
                    <a:alpha val="60000"/>
                  </a:srgbClr>
                </a:solidFill>
                <a:latin typeface="Arial Nova"/>
                <a:ea typeface="Arial Nova"/>
                <a:cs typeface="Arial Nova"/>
                <a:sym typeface="Arial Nova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32D37">
                <a:alpha val="100000"/>
              </a:srgbClr>
            </a:gs>
            <a:gs pos="100000">
              <a:srgbClr val="12383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8997" y="434978"/>
            <a:ext cx="3048000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AutoGest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1703" y="895350"/>
            <a:ext cx="3174997" cy="29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ACONCAGUA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47997" y="504825"/>
            <a:ext cx="1650997" cy="95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799" b="true">
                <a:solidFill>
                  <a:srgbClr val="436C6E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8997" y="1543050"/>
            <a:ext cx="16509997" cy="128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Problemática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8997" y="2844803"/>
            <a:ext cx="1143000" cy="50797"/>
            <a:chOff x="0" y="0"/>
            <a:chExt cx="1524000" cy="677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0" cy="67691"/>
            </a:xfrm>
            <a:custGeom>
              <a:avLst/>
              <a:gdLst/>
              <a:ahLst/>
              <a:cxnLst/>
              <a:rect r="r" b="b" t="t" l="l"/>
              <a:pathLst>
                <a:path h="67691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12997" y="2870197"/>
            <a:ext cx="14985997" cy="12697"/>
            <a:chOff x="0" y="0"/>
            <a:chExt cx="199813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81290" cy="16891"/>
            </a:xfrm>
            <a:custGeom>
              <a:avLst/>
              <a:gdLst/>
              <a:ahLst/>
              <a:cxnLst/>
              <a:rect r="r" b="b" t="t" l="l"/>
              <a:pathLst>
                <a:path h="16891" w="19981290">
                  <a:moveTo>
                    <a:pt x="0" y="0"/>
                  </a:moveTo>
                  <a:lnTo>
                    <a:pt x="19981290" y="0"/>
                  </a:lnTo>
                  <a:lnTo>
                    <a:pt x="1998129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34545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9997" y="9505950"/>
            <a:ext cx="888997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8997" y="9505950"/>
            <a:ext cx="7620000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Sistema de Gestión Automotriz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88997" y="3429000"/>
            <a:ext cx="8077200" cy="4635503"/>
            <a:chOff x="0" y="0"/>
            <a:chExt cx="10769600" cy="61806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69600" cy="6180709"/>
            </a:xfrm>
            <a:custGeom>
              <a:avLst/>
              <a:gdLst/>
              <a:ahLst/>
              <a:cxnLst/>
              <a:rect r="r" b="b" t="t" l="l"/>
              <a:pathLst>
                <a:path h="6180709" w="10769600">
                  <a:moveTo>
                    <a:pt x="0" y="0"/>
                  </a:moveTo>
                  <a:lnTo>
                    <a:pt x="10769600" y="0"/>
                  </a:lnTo>
                  <a:lnTo>
                    <a:pt x="10769600" y="6180709"/>
                  </a:lnTo>
                  <a:lnTo>
                    <a:pt x="0" y="61807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88997" y="3429000"/>
            <a:ext cx="8077200" cy="38100"/>
            <a:chOff x="0" y="0"/>
            <a:chExt cx="10769600" cy="50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69600" cy="50800"/>
            </a:xfrm>
            <a:custGeom>
              <a:avLst/>
              <a:gdLst/>
              <a:ahLst/>
              <a:cxnLst/>
              <a:rect r="r" b="b" t="t" l="l"/>
              <a:pathLst>
                <a:path h="50800" w="10769600">
                  <a:moveTo>
                    <a:pt x="0" y="0"/>
                  </a:moveTo>
                  <a:lnTo>
                    <a:pt x="10769600" y="0"/>
                  </a:lnTo>
                  <a:lnTo>
                    <a:pt x="1076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06503" y="3727447"/>
            <a:ext cx="7442197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Gestión descentralizada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6503" y="4806953"/>
            <a:ext cx="7442197" cy="446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La automotora actualmente maneja información de vehículos, clientes y ventas de manera poco centralizada, lo que dificulta mantener los datos actualizados y acceder rápidamente a ellos.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21803" y="3429000"/>
            <a:ext cx="8077200" cy="4635503"/>
            <a:chOff x="0" y="0"/>
            <a:chExt cx="10769600" cy="61806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69600" cy="6180709"/>
            </a:xfrm>
            <a:custGeom>
              <a:avLst/>
              <a:gdLst/>
              <a:ahLst/>
              <a:cxnLst/>
              <a:rect r="r" b="b" t="t" l="l"/>
              <a:pathLst>
                <a:path h="6180709" w="10769600">
                  <a:moveTo>
                    <a:pt x="0" y="0"/>
                  </a:moveTo>
                  <a:lnTo>
                    <a:pt x="10769600" y="0"/>
                  </a:lnTo>
                  <a:lnTo>
                    <a:pt x="10769600" y="6180709"/>
                  </a:lnTo>
                  <a:lnTo>
                    <a:pt x="0" y="61807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321803" y="3429000"/>
            <a:ext cx="8077200" cy="38100"/>
            <a:chOff x="0" y="0"/>
            <a:chExt cx="10769600" cy="50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69600" cy="50800"/>
            </a:xfrm>
            <a:custGeom>
              <a:avLst/>
              <a:gdLst/>
              <a:ahLst/>
              <a:cxnLst/>
              <a:rect r="r" b="b" t="t" l="l"/>
              <a:pathLst>
                <a:path h="50800" w="10769600">
                  <a:moveTo>
                    <a:pt x="0" y="0"/>
                  </a:moveTo>
                  <a:lnTo>
                    <a:pt x="10769600" y="0"/>
                  </a:lnTo>
                  <a:lnTo>
                    <a:pt x="1076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639300" y="3727447"/>
            <a:ext cx="7442197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Datos inconsistentes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39300" y="4806953"/>
            <a:ext cx="7442197" cy="446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La información relacionada con las características y especificaciones técnicas de los vehículos requiere consultas y registro de datos, aumentando el trabajo manual y la posibilidad de inconsistencias en la información.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32D37">
                <a:alpha val="100000"/>
              </a:srgbClr>
            </a:gs>
            <a:gs pos="100000">
              <a:srgbClr val="18433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8997" y="434978"/>
            <a:ext cx="3048000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AutoGest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1703" y="895350"/>
            <a:ext cx="3174997" cy="29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ACONCAGUA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47997" y="504825"/>
            <a:ext cx="1650997" cy="95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799" b="true">
                <a:solidFill>
                  <a:srgbClr val="436C6E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8997" y="1543050"/>
            <a:ext cx="16509997" cy="128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Necesidad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8997" y="2844803"/>
            <a:ext cx="1143000" cy="50797"/>
            <a:chOff x="0" y="0"/>
            <a:chExt cx="1524000" cy="677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0" cy="67691"/>
            </a:xfrm>
            <a:custGeom>
              <a:avLst/>
              <a:gdLst/>
              <a:ahLst/>
              <a:cxnLst/>
              <a:rect r="r" b="b" t="t" l="l"/>
              <a:pathLst>
                <a:path h="67691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12997" y="2870197"/>
            <a:ext cx="14985997" cy="12697"/>
            <a:chOff x="0" y="0"/>
            <a:chExt cx="199813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81290" cy="16891"/>
            </a:xfrm>
            <a:custGeom>
              <a:avLst/>
              <a:gdLst/>
              <a:ahLst/>
              <a:cxnLst/>
              <a:rect r="r" b="b" t="t" l="l"/>
              <a:pathLst>
                <a:path h="16891" w="19981290">
                  <a:moveTo>
                    <a:pt x="0" y="0"/>
                  </a:moveTo>
                  <a:lnTo>
                    <a:pt x="19981290" y="0"/>
                  </a:lnTo>
                  <a:lnTo>
                    <a:pt x="1998129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34545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9997" y="9505950"/>
            <a:ext cx="888997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8997" y="9505950"/>
            <a:ext cx="7620000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Sistema de Gestión Automotriz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88997" y="3327397"/>
            <a:ext cx="8077200" cy="5588003"/>
            <a:chOff x="0" y="0"/>
            <a:chExt cx="10769600" cy="74506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69600" cy="7450709"/>
            </a:xfrm>
            <a:custGeom>
              <a:avLst/>
              <a:gdLst/>
              <a:ahLst/>
              <a:cxnLst/>
              <a:rect r="r" b="b" t="t" l="l"/>
              <a:pathLst>
                <a:path h="7450709" w="10769600">
                  <a:moveTo>
                    <a:pt x="0" y="0"/>
                  </a:moveTo>
                  <a:lnTo>
                    <a:pt x="10769600" y="0"/>
                  </a:lnTo>
                  <a:lnTo>
                    <a:pt x="10769600" y="7450709"/>
                  </a:lnTo>
                  <a:lnTo>
                    <a:pt x="0" y="74507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88997" y="3327397"/>
            <a:ext cx="8077200" cy="38100"/>
            <a:chOff x="0" y="0"/>
            <a:chExt cx="10769600" cy="50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69600" cy="50800"/>
            </a:xfrm>
            <a:custGeom>
              <a:avLst/>
              <a:gdLst/>
              <a:ahLst/>
              <a:cxnLst/>
              <a:rect r="r" b="b" t="t" l="l"/>
              <a:pathLst>
                <a:path h="50800" w="10769600">
                  <a:moveTo>
                    <a:pt x="0" y="0"/>
                  </a:moveTo>
                  <a:lnTo>
                    <a:pt x="10769600" y="0"/>
                  </a:lnTo>
                  <a:lnTo>
                    <a:pt x="1076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06503" y="3625853"/>
            <a:ext cx="7442197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Centralización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6503" y="4705350"/>
            <a:ext cx="7442197" cy="446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La automotora necesita centralizar y organizar la información de vehículos, clientes y ventas, facilitando su consulta y actualización.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21803" y="3327397"/>
            <a:ext cx="8077200" cy="5588003"/>
            <a:chOff x="0" y="0"/>
            <a:chExt cx="10769600" cy="74506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69600" cy="7450709"/>
            </a:xfrm>
            <a:custGeom>
              <a:avLst/>
              <a:gdLst/>
              <a:ahLst/>
              <a:cxnLst/>
              <a:rect r="r" b="b" t="t" l="l"/>
              <a:pathLst>
                <a:path h="7450709" w="10769600">
                  <a:moveTo>
                    <a:pt x="0" y="0"/>
                  </a:moveTo>
                  <a:lnTo>
                    <a:pt x="10769600" y="0"/>
                  </a:lnTo>
                  <a:lnTo>
                    <a:pt x="10769600" y="7450709"/>
                  </a:lnTo>
                  <a:lnTo>
                    <a:pt x="0" y="74507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321803" y="3327397"/>
            <a:ext cx="8077200" cy="38100"/>
            <a:chOff x="0" y="0"/>
            <a:chExt cx="10769600" cy="50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69600" cy="50800"/>
            </a:xfrm>
            <a:custGeom>
              <a:avLst/>
              <a:gdLst/>
              <a:ahLst/>
              <a:cxnLst/>
              <a:rect r="r" b="b" t="t" l="l"/>
              <a:pathLst>
                <a:path h="50800" w="10769600">
                  <a:moveTo>
                    <a:pt x="0" y="0"/>
                  </a:moveTo>
                  <a:lnTo>
                    <a:pt x="10769600" y="0"/>
                  </a:lnTo>
                  <a:lnTo>
                    <a:pt x="1076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639300" y="3625853"/>
            <a:ext cx="7442197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Optimización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39300" y="4705350"/>
            <a:ext cx="7442197" cy="446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El cliente necesita mejorar la gestión de la información que utiliza en sus actividades diarias, reducir tareas manuales y acceder rápidamente a información técnica de los vehículos en su inventario.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Además, necesita contar con información técnica de los vehículos de manera ordenada y actualizada, permitiéndole optimizar estos procesos.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32D37">
                <a:alpha val="100000"/>
              </a:srgbClr>
            </a:gs>
            <a:gs pos="100000">
              <a:srgbClr val="12383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8997" y="434978"/>
            <a:ext cx="3048000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AutoGest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1703" y="895350"/>
            <a:ext cx="3174997" cy="29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ACONCAGUA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47997" y="504825"/>
            <a:ext cx="1650997" cy="95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799" b="true">
                <a:solidFill>
                  <a:srgbClr val="436C6E"/>
                </a:solidFill>
                <a:latin typeface="Arial Bold"/>
                <a:ea typeface="Arial Bold"/>
                <a:cs typeface="Arial Bold"/>
                <a:sym typeface="Arial Bold"/>
              </a:rPr>
              <a:t>06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8997" y="1543050"/>
            <a:ext cx="16509997" cy="128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Solución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8997" y="2844803"/>
            <a:ext cx="1143000" cy="50797"/>
            <a:chOff x="0" y="0"/>
            <a:chExt cx="1524000" cy="677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0" cy="67691"/>
            </a:xfrm>
            <a:custGeom>
              <a:avLst/>
              <a:gdLst/>
              <a:ahLst/>
              <a:cxnLst/>
              <a:rect r="r" b="b" t="t" l="l"/>
              <a:pathLst>
                <a:path h="67691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12997" y="2870197"/>
            <a:ext cx="14985997" cy="12697"/>
            <a:chOff x="0" y="0"/>
            <a:chExt cx="199813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81290" cy="16891"/>
            </a:xfrm>
            <a:custGeom>
              <a:avLst/>
              <a:gdLst/>
              <a:ahLst/>
              <a:cxnLst/>
              <a:rect r="r" b="b" t="t" l="l"/>
              <a:pathLst>
                <a:path h="16891" w="19981290">
                  <a:moveTo>
                    <a:pt x="0" y="0"/>
                  </a:moveTo>
                  <a:lnTo>
                    <a:pt x="19981290" y="0"/>
                  </a:lnTo>
                  <a:lnTo>
                    <a:pt x="1998129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34545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9997" y="9505950"/>
            <a:ext cx="888997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8997" y="9505950"/>
            <a:ext cx="7620000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Sistema de Gestión Automotriz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88997" y="3390900"/>
            <a:ext cx="5266268" cy="4445003"/>
            <a:chOff x="0" y="0"/>
            <a:chExt cx="7021690" cy="59266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21703" cy="5926709"/>
            </a:xfrm>
            <a:custGeom>
              <a:avLst/>
              <a:gdLst/>
              <a:ahLst/>
              <a:cxnLst/>
              <a:rect r="r" b="b" t="t" l="l"/>
              <a:pathLst>
                <a:path h="5926709" w="7021703">
                  <a:moveTo>
                    <a:pt x="0" y="0"/>
                  </a:moveTo>
                  <a:lnTo>
                    <a:pt x="7021703" y="0"/>
                  </a:lnTo>
                  <a:lnTo>
                    <a:pt x="7021703" y="5926709"/>
                  </a:lnTo>
                  <a:lnTo>
                    <a:pt x="0" y="59267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88997" y="3390900"/>
            <a:ext cx="5266268" cy="38100"/>
            <a:chOff x="0" y="0"/>
            <a:chExt cx="7021690" cy="50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21703" cy="50800"/>
            </a:xfrm>
            <a:custGeom>
              <a:avLst/>
              <a:gdLst/>
              <a:ahLst/>
              <a:cxnLst/>
              <a:rect r="r" b="b" t="t" l="l"/>
              <a:pathLst>
                <a:path h="50800" w="7021703">
                  <a:moveTo>
                    <a:pt x="0" y="0"/>
                  </a:moveTo>
                  <a:lnTo>
                    <a:pt x="7021703" y="0"/>
                  </a:lnTo>
                  <a:lnTo>
                    <a:pt x="7021703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06503" y="3689347"/>
            <a:ext cx="463126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Plataforma web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6503" y="4768853"/>
            <a:ext cx="4631265" cy="446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Una plataforma web que centralice la gestión de vehículos, clientes, ventas, gastos y oportunidades de negocio en un solo lugar.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10871" y="3390900"/>
            <a:ext cx="5266268" cy="4445003"/>
            <a:chOff x="0" y="0"/>
            <a:chExt cx="7021690" cy="59266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21703" cy="5926709"/>
            </a:xfrm>
            <a:custGeom>
              <a:avLst/>
              <a:gdLst/>
              <a:ahLst/>
              <a:cxnLst/>
              <a:rect r="r" b="b" t="t" l="l"/>
              <a:pathLst>
                <a:path h="5926709" w="7021703">
                  <a:moveTo>
                    <a:pt x="0" y="0"/>
                  </a:moveTo>
                  <a:lnTo>
                    <a:pt x="7021703" y="0"/>
                  </a:lnTo>
                  <a:lnTo>
                    <a:pt x="7021703" y="5926709"/>
                  </a:lnTo>
                  <a:lnTo>
                    <a:pt x="0" y="59267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510871" y="3390900"/>
            <a:ext cx="5266268" cy="38100"/>
            <a:chOff x="0" y="0"/>
            <a:chExt cx="7021690" cy="50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21703" cy="50800"/>
            </a:xfrm>
            <a:custGeom>
              <a:avLst/>
              <a:gdLst/>
              <a:ahLst/>
              <a:cxnLst/>
              <a:rect r="r" b="b" t="t" l="l"/>
              <a:pathLst>
                <a:path h="50800" w="7021703">
                  <a:moveTo>
                    <a:pt x="0" y="0"/>
                  </a:moveTo>
                  <a:lnTo>
                    <a:pt x="7021703" y="0"/>
                  </a:lnTo>
                  <a:lnTo>
                    <a:pt x="7021703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828368" y="3689347"/>
            <a:ext cx="463126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Inteligencia artificial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28368" y="4768853"/>
            <a:ext cx="4631265" cy="446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Dashboard de indicadores, recomendación de vehículos mediante IA y obtención automática de fichas técnicas mediante una fuente externa.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132735" y="3390900"/>
            <a:ext cx="5266268" cy="4445003"/>
            <a:chOff x="0" y="0"/>
            <a:chExt cx="7021690" cy="59266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21703" cy="5926709"/>
            </a:xfrm>
            <a:custGeom>
              <a:avLst/>
              <a:gdLst/>
              <a:ahLst/>
              <a:cxnLst/>
              <a:rect r="r" b="b" t="t" l="l"/>
              <a:pathLst>
                <a:path h="5926709" w="7021703">
                  <a:moveTo>
                    <a:pt x="0" y="0"/>
                  </a:moveTo>
                  <a:lnTo>
                    <a:pt x="7021703" y="0"/>
                  </a:lnTo>
                  <a:lnTo>
                    <a:pt x="7021703" y="5926709"/>
                  </a:lnTo>
                  <a:lnTo>
                    <a:pt x="0" y="59267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132735" y="3390900"/>
            <a:ext cx="5266268" cy="38100"/>
            <a:chOff x="0" y="0"/>
            <a:chExt cx="7021690" cy="50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21703" cy="50800"/>
            </a:xfrm>
            <a:custGeom>
              <a:avLst/>
              <a:gdLst/>
              <a:ahLst/>
              <a:cxnLst/>
              <a:rect r="r" b="b" t="t" l="l"/>
              <a:pathLst>
                <a:path h="50800" w="7021703">
                  <a:moveTo>
                    <a:pt x="0" y="0"/>
                  </a:moveTo>
                  <a:lnTo>
                    <a:pt x="7021703" y="0"/>
                  </a:lnTo>
                  <a:lnTo>
                    <a:pt x="7021703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450232" y="3689347"/>
            <a:ext cx="463126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Valor entregado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50232" y="4768853"/>
            <a:ext cx="4631265" cy="446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Centralizar la información, reducir tareas administrativas y facilitar la toma de decisiones y la gestión de oportunidades de venta.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32D37">
                <a:alpha val="100000"/>
              </a:srgbClr>
            </a:gs>
            <a:gs pos="100000">
              <a:srgbClr val="18433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8997" y="434978"/>
            <a:ext cx="3048000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AutoGest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1703" y="895350"/>
            <a:ext cx="3174997" cy="29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ACONCAGUA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47997" y="504825"/>
            <a:ext cx="1650997" cy="95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799" b="true">
                <a:solidFill>
                  <a:srgbClr val="436C6E"/>
                </a:solidFill>
                <a:latin typeface="Arial Bold"/>
                <a:ea typeface="Arial Bold"/>
                <a:cs typeface="Arial Bold"/>
                <a:sym typeface="Arial Bold"/>
              </a:rPr>
              <a:t>07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8997" y="1543050"/>
            <a:ext cx="16509997" cy="128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Requerimientos funcionales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8997" y="2844803"/>
            <a:ext cx="1143000" cy="50797"/>
            <a:chOff x="0" y="0"/>
            <a:chExt cx="1524000" cy="677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0" cy="67691"/>
            </a:xfrm>
            <a:custGeom>
              <a:avLst/>
              <a:gdLst/>
              <a:ahLst/>
              <a:cxnLst/>
              <a:rect r="r" b="b" t="t" l="l"/>
              <a:pathLst>
                <a:path h="67691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12997" y="2870197"/>
            <a:ext cx="14985997" cy="12697"/>
            <a:chOff x="0" y="0"/>
            <a:chExt cx="199813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81290" cy="16891"/>
            </a:xfrm>
            <a:custGeom>
              <a:avLst/>
              <a:gdLst/>
              <a:ahLst/>
              <a:cxnLst/>
              <a:rect r="r" b="b" t="t" l="l"/>
              <a:pathLst>
                <a:path h="16891" w="19981290">
                  <a:moveTo>
                    <a:pt x="0" y="0"/>
                  </a:moveTo>
                  <a:lnTo>
                    <a:pt x="19981290" y="0"/>
                  </a:lnTo>
                  <a:lnTo>
                    <a:pt x="1998129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34545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9997" y="9505950"/>
            <a:ext cx="888997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8997" y="9505950"/>
            <a:ext cx="7620000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Sistema de Gestión Automotriz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88997" y="3365497"/>
            <a:ext cx="16509997" cy="965197"/>
            <a:chOff x="0" y="0"/>
            <a:chExt cx="22013329" cy="1286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013290" cy="1286891"/>
            </a:xfrm>
            <a:custGeom>
              <a:avLst/>
              <a:gdLst/>
              <a:ahLst/>
              <a:cxnLst/>
              <a:rect r="r" b="b" t="t" l="l"/>
              <a:pathLst>
                <a:path h="1286891" w="22013290">
                  <a:moveTo>
                    <a:pt x="0" y="0"/>
                  </a:moveTo>
                  <a:lnTo>
                    <a:pt x="22013290" y="0"/>
                  </a:lnTo>
                  <a:lnTo>
                    <a:pt x="22013290" y="1286891"/>
                  </a:lnTo>
                  <a:lnTo>
                    <a:pt x="0" y="1286891"/>
                  </a:lnTo>
                  <a:close/>
                </a:path>
              </a:pathLst>
            </a:custGeom>
            <a:solidFill>
              <a:srgbClr val="19383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43000" y="3470272"/>
            <a:ext cx="111759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R.1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76500" y="3460747"/>
            <a:ext cx="5588003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Registrar vehículos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36003" y="3470272"/>
            <a:ext cx="8445503" cy="835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Ingresar vehículos y sus datos al inventario.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88997" y="4483103"/>
            <a:ext cx="16509997" cy="965197"/>
            <a:chOff x="0" y="0"/>
            <a:chExt cx="22013329" cy="12869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013290" cy="1286891"/>
            </a:xfrm>
            <a:custGeom>
              <a:avLst/>
              <a:gdLst/>
              <a:ahLst/>
              <a:cxnLst/>
              <a:rect r="r" b="b" t="t" l="l"/>
              <a:pathLst>
                <a:path h="1286891" w="22013290">
                  <a:moveTo>
                    <a:pt x="0" y="0"/>
                  </a:moveTo>
                  <a:lnTo>
                    <a:pt x="22013290" y="0"/>
                  </a:lnTo>
                  <a:lnTo>
                    <a:pt x="22013290" y="1286891"/>
                  </a:lnTo>
                  <a:lnTo>
                    <a:pt x="0" y="1286891"/>
                  </a:lnTo>
                  <a:close/>
                </a:path>
              </a:pathLst>
            </a:custGeom>
            <a:solidFill>
              <a:srgbClr val="1B4045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43000" y="4587878"/>
            <a:ext cx="111759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R.2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76500" y="4578353"/>
            <a:ext cx="5588003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Modificar vehículos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636003" y="4587878"/>
            <a:ext cx="8445503" cy="835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Actualizar la información de vehículos registrados.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88997" y="5600700"/>
            <a:ext cx="16509997" cy="965197"/>
            <a:chOff x="0" y="0"/>
            <a:chExt cx="22013329" cy="12869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013290" cy="1286891"/>
            </a:xfrm>
            <a:custGeom>
              <a:avLst/>
              <a:gdLst/>
              <a:ahLst/>
              <a:cxnLst/>
              <a:rect r="r" b="b" t="t" l="l"/>
              <a:pathLst>
                <a:path h="1286891" w="22013290">
                  <a:moveTo>
                    <a:pt x="0" y="0"/>
                  </a:moveTo>
                  <a:lnTo>
                    <a:pt x="22013290" y="0"/>
                  </a:lnTo>
                  <a:lnTo>
                    <a:pt x="22013290" y="1286891"/>
                  </a:lnTo>
                  <a:lnTo>
                    <a:pt x="0" y="1286891"/>
                  </a:lnTo>
                  <a:close/>
                </a:path>
              </a:pathLst>
            </a:custGeom>
            <a:solidFill>
              <a:srgbClr val="19383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43000" y="5705475"/>
            <a:ext cx="111759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R.3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76500" y="5695950"/>
            <a:ext cx="5588003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Consultar inventario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636003" y="5705475"/>
            <a:ext cx="8445503" cy="835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Visualizar vehículos disponibles y consultar sus datos.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88997" y="6718297"/>
            <a:ext cx="16509997" cy="965197"/>
            <a:chOff x="0" y="0"/>
            <a:chExt cx="22013329" cy="128692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013290" cy="1286891"/>
            </a:xfrm>
            <a:custGeom>
              <a:avLst/>
              <a:gdLst/>
              <a:ahLst/>
              <a:cxnLst/>
              <a:rect r="r" b="b" t="t" l="l"/>
              <a:pathLst>
                <a:path h="1286891" w="22013290">
                  <a:moveTo>
                    <a:pt x="0" y="0"/>
                  </a:moveTo>
                  <a:lnTo>
                    <a:pt x="22013290" y="0"/>
                  </a:lnTo>
                  <a:lnTo>
                    <a:pt x="22013290" y="1286891"/>
                  </a:lnTo>
                  <a:lnTo>
                    <a:pt x="0" y="1286891"/>
                  </a:lnTo>
                  <a:close/>
                </a:path>
              </a:pathLst>
            </a:custGeom>
            <a:solidFill>
              <a:srgbClr val="1B4045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43000" y="6823072"/>
            <a:ext cx="111759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R.4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476500" y="6813547"/>
            <a:ext cx="5588003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Gestionar clientes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636003" y="6823072"/>
            <a:ext cx="8445503" cy="835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Registrar y administrar clientes y potenciales compradores.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88997" y="7835903"/>
            <a:ext cx="16509997" cy="965197"/>
            <a:chOff x="0" y="0"/>
            <a:chExt cx="22013329" cy="128692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013290" cy="1286891"/>
            </a:xfrm>
            <a:custGeom>
              <a:avLst/>
              <a:gdLst/>
              <a:ahLst/>
              <a:cxnLst/>
              <a:rect r="r" b="b" t="t" l="l"/>
              <a:pathLst>
                <a:path h="1286891" w="22013290">
                  <a:moveTo>
                    <a:pt x="0" y="0"/>
                  </a:moveTo>
                  <a:lnTo>
                    <a:pt x="22013290" y="0"/>
                  </a:lnTo>
                  <a:lnTo>
                    <a:pt x="22013290" y="1286891"/>
                  </a:lnTo>
                  <a:lnTo>
                    <a:pt x="0" y="1286891"/>
                  </a:lnTo>
                  <a:close/>
                </a:path>
              </a:pathLst>
            </a:custGeom>
            <a:solidFill>
              <a:srgbClr val="19383F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143000" y="7940678"/>
            <a:ext cx="111759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R.5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476500" y="7931153"/>
            <a:ext cx="5588003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Registrar ventas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636003" y="7940678"/>
            <a:ext cx="8445503" cy="835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Asociar cada venta al vehículo y cliente correspondiente.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32D37">
                <a:alpha val="100000"/>
              </a:srgbClr>
            </a:gs>
            <a:gs pos="100000">
              <a:srgbClr val="12383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8997" y="434978"/>
            <a:ext cx="3048000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AutoGest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1703" y="895350"/>
            <a:ext cx="3174997" cy="29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ACONCAGUA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47997" y="504825"/>
            <a:ext cx="1650997" cy="95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799" b="true">
                <a:solidFill>
                  <a:srgbClr val="436C6E"/>
                </a:solidFill>
                <a:latin typeface="Arial Bold"/>
                <a:ea typeface="Arial Bold"/>
                <a:cs typeface="Arial Bold"/>
                <a:sym typeface="Arial Bold"/>
              </a:rPr>
              <a:t>08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8997" y="1543050"/>
            <a:ext cx="16509997" cy="128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Requerimientos funcionales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8997" y="2844803"/>
            <a:ext cx="1143000" cy="50797"/>
            <a:chOff x="0" y="0"/>
            <a:chExt cx="1524000" cy="677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0" cy="67691"/>
            </a:xfrm>
            <a:custGeom>
              <a:avLst/>
              <a:gdLst/>
              <a:ahLst/>
              <a:cxnLst/>
              <a:rect r="r" b="b" t="t" l="l"/>
              <a:pathLst>
                <a:path h="67691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12997" y="2870197"/>
            <a:ext cx="14985997" cy="12697"/>
            <a:chOff x="0" y="0"/>
            <a:chExt cx="199813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81290" cy="16891"/>
            </a:xfrm>
            <a:custGeom>
              <a:avLst/>
              <a:gdLst/>
              <a:ahLst/>
              <a:cxnLst/>
              <a:rect r="r" b="b" t="t" l="l"/>
              <a:pathLst>
                <a:path h="16891" w="19981290">
                  <a:moveTo>
                    <a:pt x="0" y="0"/>
                  </a:moveTo>
                  <a:lnTo>
                    <a:pt x="19981290" y="0"/>
                  </a:lnTo>
                  <a:lnTo>
                    <a:pt x="1998129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34545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9997" y="9505950"/>
            <a:ext cx="888997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8997" y="9505950"/>
            <a:ext cx="7620000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Sistema de Gestión Automotriz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88997" y="3365497"/>
            <a:ext cx="16509997" cy="965197"/>
            <a:chOff x="0" y="0"/>
            <a:chExt cx="22013329" cy="1286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013290" cy="1286891"/>
            </a:xfrm>
            <a:custGeom>
              <a:avLst/>
              <a:gdLst/>
              <a:ahLst/>
              <a:cxnLst/>
              <a:rect r="r" b="b" t="t" l="l"/>
              <a:pathLst>
                <a:path h="1286891" w="22013290">
                  <a:moveTo>
                    <a:pt x="0" y="0"/>
                  </a:moveTo>
                  <a:lnTo>
                    <a:pt x="22013290" y="0"/>
                  </a:lnTo>
                  <a:lnTo>
                    <a:pt x="22013290" y="1286891"/>
                  </a:lnTo>
                  <a:lnTo>
                    <a:pt x="0" y="1286891"/>
                  </a:lnTo>
                  <a:close/>
                </a:path>
              </a:pathLst>
            </a:custGeom>
            <a:solidFill>
              <a:srgbClr val="19383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43000" y="3470272"/>
            <a:ext cx="111759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R.6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76500" y="3460747"/>
            <a:ext cx="5588003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Gestionar gastos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36003" y="3470272"/>
            <a:ext cx="8445503" cy="835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Registrar gastos asociados al funcionamiento del negocio.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88997" y="4483103"/>
            <a:ext cx="16509997" cy="965197"/>
            <a:chOff x="0" y="0"/>
            <a:chExt cx="22013329" cy="12869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013290" cy="1286891"/>
            </a:xfrm>
            <a:custGeom>
              <a:avLst/>
              <a:gdLst/>
              <a:ahLst/>
              <a:cxnLst/>
              <a:rect r="r" b="b" t="t" l="l"/>
              <a:pathLst>
                <a:path h="1286891" w="22013290">
                  <a:moveTo>
                    <a:pt x="0" y="0"/>
                  </a:moveTo>
                  <a:lnTo>
                    <a:pt x="22013290" y="0"/>
                  </a:lnTo>
                  <a:lnTo>
                    <a:pt x="22013290" y="1286891"/>
                  </a:lnTo>
                  <a:lnTo>
                    <a:pt x="0" y="1286891"/>
                  </a:lnTo>
                  <a:close/>
                </a:path>
              </a:pathLst>
            </a:custGeom>
            <a:solidFill>
              <a:srgbClr val="1B4045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43000" y="4587878"/>
            <a:ext cx="111759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R.7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76500" y="4578353"/>
            <a:ext cx="5588003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Seguir oportunidades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636003" y="4587878"/>
            <a:ext cx="8445503" cy="835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Registrar y dar seguimiento a potenciales compradores.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88997" y="5600700"/>
            <a:ext cx="16509997" cy="965197"/>
            <a:chOff x="0" y="0"/>
            <a:chExt cx="22013329" cy="12869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013290" cy="1286891"/>
            </a:xfrm>
            <a:custGeom>
              <a:avLst/>
              <a:gdLst/>
              <a:ahLst/>
              <a:cxnLst/>
              <a:rect r="r" b="b" t="t" l="l"/>
              <a:pathLst>
                <a:path h="1286891" w="22013290">
                  <a:moveTo>
                    <a:pt x="0" y="0"/>
                  </a:moveTo>
                  <a:lnTo>
                    <a:pt x="22013290" y="0"/>
                  </a:lnTo>
                  <a:lnTo>
                    <a:pt x="22013290" y="1286891"/>
                  </a:lnTo>
                  <a:lnTo>
                    <a:pt x="0" y="1286891"/>
                  </a:lnTo>
                  <a:close/>
                </a:path>
              </a:pathLst>
            </a:custGeom>
            <a:solidFill>
              <a:srgbClr val="19383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43000" y="5705475"/>
            <a:ext cx="111759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R.8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76500" y="5695950"/>
            <a:ext cx="5588003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Obtener ficha técnica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636003" y="5705475"/>
            <a:ext cx="8445503" cy="835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Consultar datos técnicos del vehículo mediante su patente.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88997" y="6718297"/>
            <a:ext cx="16509997" cy="965197"/>
            <a:chOff x="0" y="0"/>
            <a:chExt cx="22013329" cy="128692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013290" cy="1286891"/>
            </a:xfrm>
            <a:custGeom>
              <a:avLst/>
              <a:gdLst/>
              <a:ahLst/>
              <a:cxnLst/>
              <a:rect r="r" b="b" t="t" l="l"/>
              <a:pathLst>
                <a:path h="1286891" w="22013290">
                  <a:moveTo>
                    <a:pt x="0" y="0"/>
                  </a:moveTo>
                  <a:lnTo>
                    <a:pt x="22013290" y="0"/>
                  </a:lnTo>
                  <a:lnTo>
                    <a:pt x="22013290" y="1286891"/>
                  </a:lnTo>
                  <a:lnTo>
                    <a:pt x="0" y="1286891"/>
                  </a:lnTo>
                  <a:close/>
                </a:path>
              </a:pathLst>
            </a:custGeom>
            <a:solidFill>
              <a:srgbClr val="1B4045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43000" y="6823072"/>
            <a:ext cx="111759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R.9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476500" y="6813547"/>
            <a:ext cx="5588003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Visualizar indicadores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636003" y="6823072"/>
            <a:ext cx="8445503" cy="835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Consultar inventario, ventas, ingresos y gastos.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88997" y="7835903"/>
            <a:ext cx="16509997" cy="965197"/>
            <a:chOff x="0" y="0"/>
            <a:chExt cx="22013329" cy="128692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013290" cy="1286891"/>
            </a:xfrm>
            <a:custGeom>
              <a:avLst/>
              <a:gdLst/>
              <a:ahLst/>
              <a:cxnLst/>
              <a:rect r="r" b="b" t="t" l="l"/>
              <a:pathLst>
                <a:path h="1286891" w="22013290">
                  <a:moveTo>
                    <a:pt x="0" y="0"/>
                  </a:moveTo>
                  <a:lnTo>
                    <a:pt x="22013290" y="0"/>
                  </a:lnTo>
                  <a:lnTo>
                    <a:pt x="22013290" y="1286891"/>
                  </a:lnTo>
                  <a:lnTo>
                    <a:pt x="0" y="1286891"/>
                  </a:lnTo>
                  <a:close/>
                </a:path>
              </a:pathLst>
            </a:custGeom>
            <a:solidFill>
              <a:srgbClr val="19383F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143000" y="7940678"/>
            <a:ext cx="111759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R.10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476500" y="7931153"/>
            <a:ext cx="5588003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Recomendar vehículos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636003" y="7940678"/>
            <a:ext cx="8445503" cy="835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Sugerir vehículos según necesidades y preferencias.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32D37">
                <a:alpha val="100000"/>
              </a:srgbClr>
            </a:gs>
            <a:gs pos="100000">
              <a:srgbClr val="18433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8997" y="434978"/>
            <a:ext cx="3048000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AutoGest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1703" y="895350"/>
            <a:ext cx="3174997" cy="29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ACONCAGUA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47997" y="504825"/>
            <a:ext cx="1650997" cy="95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799" b="true">
                <a:solidFill>
                  <a:srgbClr val="436C6E"/>
                </a:solidFill>
                <a:latin typeface="Arial Bold"/>
                <a:ea typeface="Arial Bold"/>
                <a:cs typeface="Arial Bold"/>
                <a:sym typeface="Arial Bold"/>
              </a:rPr>
              <a:t>09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8997" y="1543050"/>
            <a:ext cx="16509997" cy="128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Requerimientos no funcionales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8997" y="2844803"/>
            <a:ext cx="1143000" cy="50797"/>
            <a:chOff x="0" y="0"/>
            <a:chExt cx="1524000" cy="677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0" cy="67691"/>
            </a:xfrm>
            <a:custGeom>
              <a:avLst/>
              <a:gdLst/>
              <a:ahLst/>
              <a:cxnLst/>
              <a:rect r="r" b="b" t="t" l="l"/>
              <a:pathLst>
                <a:path h="67691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12997" y="2870197"/>
            <a:ext cx="14985997" cy="12697"/>
            <a:chOff x="0" y="0"/>
            <a:chExt cx="199813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81290" cy="16891"/>
            </a:xfrm>
            <a:custGeom>
              <a:avLst/>
              <a:gdLst/>
              <a:ahLst/>
              <a:cxnLst/>
              <a:rect r="r" b="b" t="t" l="l"/>
              <a:pathLst>
                <a:path h="16891" w="19981290">
                  <a:moveTo>
                    <a:pt x="0" y="0"/>
                  </a:moveTo>
                  <a:lnTo>
                    <a:pt x="19981290" y="0"/>
                  </a:lnTo>
                  <a:lnTo>
                    <a:pt x="1998129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34545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9997" y="9505950"/>
            <a:ext cx="888997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8997" y="9505950"/>
            <a:ext cx="7620000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Sistema de Gestión Automotriz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8997" y="3482978"/>
            <a:ext cx="1269997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RNF.1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11403" y="3473453"/>
            <a:ext cx="6451597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Seguridad de acceso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11403" y="4006853"/>
            <a:ext cx="645159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Acceso únicamente con credenciales válidas.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8997" y="4854578"/>
            <a:ext cx="1269997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RNF.2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11403" y="4845053"/>
            <a:ext cx="6451597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Protección de datos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11403" y="5378453"/>
            <a:ext cx="645159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Información protegida contra accesos no autorizados.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8997" y="6226178"/>
            <a:ext cx="1269997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RNF.3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11403" y="6216653"/>
            <a:ext cx="6451597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Tiempo de respuesta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11403" y="6750053"/>
            <a:ext cx="645159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Operaciones habituales en un máximo de 3 segundos.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8997" y="7597778"/>
            <a:ext cx="1269997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RNF.4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11403" y="7588253"/>
            <a:ext cx="6451597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Disponibilidad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311403" y="8121653"/>
            <a:ext cx="645159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Plataforma disponible para el uso de sus funciones.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25000" y="3482978"/>
            <a:ext cx="1269997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RNF.5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47397" y="3473453"/>
            <a:ext cx="6451597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Usabilidad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947397" y="4006853"/>
            <a:ext cx="645159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Interfaz sencilla e intuitiva para usuarios no técnicos.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25000" y="4854578"/>
            <a:ext cx="1269997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RNF.6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47397" y="4845053"/>
            <a:ext cx="6451597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Diseño responsivo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947397" y="5378453"/>
            <a:ext cx="645159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Adaptación a computadores y dispositivos móviles.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25000" y="6226178"/>
            <a:ext cx="1269997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RNF.7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947397" y="6216653"/>
            <a:ext cx="6451597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Compatibilidad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947397" y="6750053"/>
            <a:ext cx="645159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Funcionamiento en los principales navegadores actuales.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525000" y="7597778"/>
            <a:ext cx="1269997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RNF.8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947397" y="7588253"/>
            <a:ext cx="6451597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Integridad de datos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947397" y="8121653"/>
            <a:ext cx="645159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Validación de información incompleta o inconsistente.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32D37">
                <a:alpha val="100000"/>
              </a:srgbClr>
            </a:gs>
            <a:gs pos="100000">
              <a:srgbClr val="12383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8997" y="434978"/>
            <a:ext cx="3048000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AutoGest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1703" y="895350"/>
            <a:ext cx="3174997" cy="29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ACONCAGUA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47997" y="504825"/>
            <a:ext cx="1650997" cy="95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799" b="true">
                <a:solidFill>
                  <a:srgbClr val="436C6E"/>
                </a:solidFill>
                <a:latin typeface="Arial Bold"/>
                <a:ea typeface="Arial Bold"/>
                <a:cs typeface="Arial Bold"/>
                <a:sym typeface="Arial Bold"/>
              </a:rPr>
              <a:t>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8997" y="1543050"/>
            <a:ext cx="16509997" cy="128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Épicas del proyecto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8997" y="2844803"/>
            <a:ext cx="1143000" cy="50797"/>
            <a:chOff x="0" y="0"/>
            <a:chExt cx="1524000" cy="677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0" cy="67691"/>
            </a:xfrm>
            <a:custGeom>
              <a:avLst/>
              <a:gdLst/>
              <a:ahLst/>
              <a:cxnLst/>
              <a:rect r="r" b="b" t="t" l="l"/>
              <a:pathLst>
                <a:path h="67691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12997" y="2870197"/>
            <a:ext cx="14985997" cy="12697"/>
            <a:chOff x="0" y="0"/>
            <a:chExt cx="199813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81290" cy="16891"/>
            </a:xfrm>
            <a:custGeom>
              <a:avLst/>
              <a:gdLst/>
              <a:ahLst/>
              <a:cxnLst/>
              <a:rect r="r" b="b" t="t" l="l"/>
              <a:pathLst>
                <a:path h="16891" w="19981290">
                  <a:moveTo>
                    <a:pt x="0" y="0"/>
                  </a:moveTo>
                  <a:lnTo>
                    <a:pt x="19981290" y="0"/>
                  </a:lnTo>
                  <a:lnTo>
                    <a:pt x="1998129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34545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9997" y="9505950"/>
            <a:ext cx="888997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8997" y="9505950"/>
            <a:ext cx="7620000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Sistema de Gestión Automotriz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88997" y="3340103"/>
            <a:ext cx="16509997" cy="952500"/>
            <a:chOff x="0" y="0"/>
            <a:chExt cx="22013329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01329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2013290">
                  <a:moveTo>
                    <a:pt x="0" y="0"/>
                  </a:moveTo>
                  <a:lnTo>
                    <a:pt x="22013290" y="0"/>
                  </a:lnTo>
                  <a:lnTo>
                    <a:pt x="2201329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19383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43000" y="3448050"/>
            <a:ext cx="126999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E1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76500" y="3457575"/>
            <a:ext cx="558800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Gestión de vehículos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17003" y="3448050"/>
            <a:ext cx="8382000" cy="71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Registro, actualización y consulta del inventario.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88997" y="4432297"/>
            <a:ext cx="16509997" cy="952500"/>
            <a:chOff x="0" y="0"/>
            <a:chExt cx="22013329" cy="127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01329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2013290">
                  <a:moveTo>
                    <a:pt x="0" y="0"/>
                  </a:moveTo>
                  <a:lnTo>
                    <a:pt x="22013290" y="0"/>
                  </a:lnTo>
                  <a:lnTo>
                    <a:pt x="2201329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1B4045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43000" y="4540253"/>
            <a:ext cx="126999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E2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76500" y="4549778"/>
            <a:ext cx="558800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Clientes y oportunidades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17003" y="4540253"/>
            <a:ext cx="8382000" cy="71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Registro de clientes y seguimiento de posibles ventas.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88997" y="5524500"/>
            <a:ext cx="16509997" cy="952500"/>
            <a:chOff x="0" y="0"/>
            <a:chExt cx="22013329" cy="127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01329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2013290">
                  <a:moveTo>
                    <a:pt x="0" y="0"/>
                  </a:moveTo>
                  <a:lnTo>
                    <a:pt x="22013290" y="0"/>
                  </a:lnTo>
                  <a:lnTo>
                    <a:pt x="2201329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19383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43000" y="5632447"/>
            <a:ext cx="126999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E3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76500" y="5641972"/>
            <a:ext cx="558800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Ventas y gastos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017003" y="5632447"/>
            <a:ext cx="8382000" cy="71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Control de ventas, ingresos y egresos del negocio.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88997" y="6616703"/>
            <a:ext cx="16509997" cy="952500"/>
            <a:chOff x="0" y="0"/>
            <a:chExt cx="22013329" cy="1270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01329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2013290">
                  <a:moveTo>
                    <a:pt x="0" y="0"/>
                  </a:moveTo>
                  <a:lnTo>
                    <a:pt x="22013290" y="0"/>
                  </a:lnTo>
                  <a:lnTo>
                    <a:pt x="2201329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1B4045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43000" y="6724650"/>
            <a:ext cx="126999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E4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476500" y="6734175"/>
            <a:ext cx="558800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Inteligencia vehicular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017003" y="6724650"/>
            <a:ext cx="8382000" cy="71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Ficha técnica por patente y recomendación mediante IA.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88997" y="7708897"/>
            <a:ext cx="16509997" cy="952500"/>
            <a:chOff x="0" y="0"/>
            <a:chExt cx="22013329" cy="1270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01329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2013290">
                  <a:moveTo>
                    <a:pt x="0" y="0"/>
                  </a:moveTo>
                  <a:lnTo>
                    <a:pt x="22013290" y="0"/>
                  </a:lnTo>
                  <a:lnTo>
                    <a:pt x="2201329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19383F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143000" y="7816853"/>
            <a:ext cx="126999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E5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476500" y="7826378"/>
            <a:ext cx="558800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Analítica del negocio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017003" y="7816853"/>
            <a:ext cx="8382000" cy="71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Indicadores para apoyar la toma de decisiones.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32D37">
                <a:alpha val="100000"/>
              </a:srgbClr>
            </a:gs>
            <a:gs pos="100000">
              <a:srgbClr val="18433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8997" y="434978"/>
            <a:ext cx="3048000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AutoGest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1703" y="895350"/>
            <a:ext cx="3174997" cy="29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ACONCAGUA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47997" y="504825"/>
            <a:ext cx="1650997" cy="95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799" b="true">
                <a:solidFill>
                  <a:srgbClr val="436C6E"/>
                </a:solidFill>
                <a:latin typeface="Arial Bold"/>
                <a:ea typeface="Arial Bold"/>
                <a:cs typeface="Arial Bold"/>
                <a:sym typeface="Arial Bold"/>
              </a:rPr>
              <a:t>11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8997" y="1543050"/>
            <a:ext cx="16509997" cy="128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Historias de usuario: gestión operativa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8997" y="2844803"/>
            <a:ext cx="1143000" cy="50797"/>
            <a:chOff x="0" y="0"/>
            <a:chExt cx="1524000" cy="677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0" cy="67691"/>
            </a:xfrm>
            <a:custGeom>
              <a:avLst/>
              <a:gdLst/>
              <a:ahLst/>
              <a:cxnLst/>
              <a:rect r="r" b="b" t="t" l="l"/>
              <a:pathLst>
                <a:path h="67691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12997" y="2870197"/>
            <a:ext cx="14985997" cy="12697"/>
            <a:chOff x="0" y="0"/>
            <a:chExt cx="199813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81290" cy="16891"/>
            </a:xfrm>
            <a:custGeom>
              <a:avLst/>
              <a:gdLst/>
              <a:ahLst/>
              <a:cxnLst/>
              <a:rect r="r" b="b" t="t" l="l"/>
              <a:pathLst>
                <a:path h="16891" w="19981290">
                  <a:moveTo>
                    <a:pt x="0" y="0"/>
                  </a:moveTo>
                  <a:lnTo>
                    <a:pt x="19981290" y="0"/>
                  </a:lnTo>
                  <a:lnTo>
                    <a:pt x="1998129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34545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9997" y="9505950"/>
            <a:ext cx="888997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8997" y="9505950"/>
            <a:ext cx="7620000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Sistema de Gestión Automotriz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8997" y="3409950"/>
            <a:ext cx="15875003" cy="565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Dueño de la automotora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88997" y="4191000"/>
            <a:ext cx="5266268" cy="4445003"/>
            <a:chOff x="0" y="0"/>
            <a:chExt cx="7021690" cy="59266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21703" cy="5926709"/>
            </a:xfrm>
            <a:custGeom>
              <a:avLst/>
              <a:gdLst/>
              <a:ahLst/>
              <a:cxnLst/>
              <a:rect r="r" b="b" t="t" l="l"/>
              <a:pathLst>
                <a:path h="5926709" w="7021703">
                  <a:moveTo>
                    <a:pt x="0" y="0"/>
                  </a:moveTo>
                  <a:lnTo>
                    <a:pt x="7021703" y="0"/>
                  </a:lnTo>
                  <a:lnTo>
                    <a:pt x="7021703" y="5926709"/>
                  </a:lnTo>
                  <a:lnTo>
                    <a:pt x="0" y="59267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88997" y="4191000"/>
            <a:ext cx="5266268" cy="38100"/>
            <a:chOff x="0" y="0"/>
            <a:chExt cx="7021690" cy="50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21703" cy="50800"/>
            </a:xfrm>
            <a:custGeom>
              <a:avLst/>
              <a:gdLst/>
              <a:ahLst/>
              <a:cxnLst/>
              <a:rect r="r" b="b" t="t" l="l"/>
              <a:pathLst>
                <a:path h="50800" w="7021703">
                  <a:moveTo>
                    <a:pt x="0" y="0"/>
                  </a:moveTo>
                  <a:lnTo>
                    <a:pt x="7021703" y="0"/>
                  </a:lnTo>
                  <a:lnTo>
                    <a:pt x="7021703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06503" y="4489447"/>
            <a:ext cx="463126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Vehículos: HU1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6503" y="5568953"/>
            <a:ext cx="4631265" cy="446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Como dueño de la automotora, quiero registrar y actualizar vehículos para mantener el inventario al día.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510871" y="4191000"/>
            <a:ext cx="5266268" cy="4445003"/>
            <a:chOff x="0" y="0"/>
            <a:chExt cx="7021690" cy="59266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21703" cy="5926709"/>
            </a:xfrm>
            <a:custGeom>
              <a:avLst/>
              <a:gdLst/>
              <a:ahLst/>
              <a:cxnLst/>
              <a:rect r="r" b="b" t="t" l="l"/>
              <a:pathLst>
                <a:path h="5926709" w="7021703">
                  <a:moveTo>
                    <a:pt x="0" y="0"/>
                  </a:moveTo>
                  <a:lnTo>
                    <a:pt x="7021703" y="0"/>
                  </a:lnTo>
                  <a:lnTo>
                    <a:pt x="7021703" y="5926709"/>
                  </a:lnTo>
                  <a:lnTo>
                    <a:pt x="0" y="59267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510871" y="4191000"/>
            <a:ext cx="5266268" cy="38100"/>
            <a:chOff x="0" y="0"/>
            <a:chExt cx="7021690" cy="50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21703" cy="50800"/>
            </a:xfrm>
            <a:custGeom>
              <a:avLst/>
              <a:gdLst/>
              <a:ahLst/>
              <a:cxnLst/>
              <a:rect r="r" b="b" t="t" l="l"/>
              <a:pathLst>
                <a:path h="50800" w="7021703">
                  <a:moveTo>
                    <a:pt x="0" y="0"/>
                  </a:moveTo>
                  <a:lnTo>
                    <a:pt x="7021703" y="0"/>
                  </a:lnTo>
                  <a:lnTo>
                    <a:pt x="7021703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828368" y="4489447"/>
            <a:ext cx="463126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Clientes: HU4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28368" y="5568953"/>
            <a:ext cx="4631265" cy="446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Como dueño de la automotora, quiero registrar clientes y sus intereses para dar seguimiento a oportunidades de venta.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132735" y="4191000"/>
            <a:ext cx="5266268" cy="4445003"/>
            <a:chOff x="0" y="0"/>
            <a:chExt cx="7021690" cy="59266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21703" cy="5926709"/>
            </a:xfrm>
            <a:custGeom>
              <a:avLst/>
              <a:gdLst/>
              <a:ahLst/>
              <a:cxnLst/>
              <a:rect r="r" b="b" t="t" l="l"/>
              <a:pathLst>
                <a:path h="5926709" w="7021703">
                  <a:moveTo>
                    <a:pt x="0" y="0"/>
                  </a:moveTo>
                  <a:lnTo>
                    <a:pt x="7021703" y="0"/>
                  </a:lnTo>
                  <a:lnTo>
                    <a:pt x="7021703" y="5926709"/>
                  </a:lnTo>
                  <a:lnTo>
                    <a:pt x="0" y="59267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132735" y="4191000"/>
            <a:ext cx="5266268" cy="38100"/>
            <a:chOff x="0" y="0"/>
            <a:chExt cx="7021690" cy="50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21703" cy="50800"/>
            </a:xfrm>
            <a:custGeom>
              <a:avLst/>
              <a:gdLst/>
              <a:ahLst/>
              <a:cxnLst/>
              <a:rect r="r" b="b" t="t" l="l"/>
              <a:pathLst>
                <a:path h="50800" w="7021703">
                  <a:moveTo>
                    <a:pt x="0" y="0"/>
                  </a:moveTo>
                  <a:lnTo>
                    <a:pt x="7021703" y="0"/>
                  </a:lnTo>
                  <a:lnTo>
                    <a:pt x="7021703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450232" y="4489447"/>
            <a:ext cx="463126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Gestión comercial: HU6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450232" y="5568953"/>
            <a:ext cx="4631265" cy="446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Como dueño de la automotora, quiero registrar ventas y gastos para controlar el desempeño del negocio.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2D37">
                <a:alpha val="100000"/>
              </a:srgbClr>
            </a:gs>
            <a:gs pos="100000">
              <a:srgbClr val="12383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8997" y="434978"/>
            <a:ext cx="3048000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AutoGest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1703" y="895350"/>
            <a:ext cx="3174997" cy="29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ACONCAGUA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47997" y="504825"/>
            <a:ext cx="1650997" cy="95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799" b="true">
                <a:solidFill>
                  <a:srgbClr val="436C6E"/>
                </a:solidFill>
                <a:latin typeface="Arial Bold"/>
                <a:ea typeface="Arial Bold"/>
                <a:cs typeface="Arial Bold"/>
                <a:sym typeface="Arial Bold"/>
              </a:rPr>
              <a:t>12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8997" y="1174747"/>
            <a:ext cx="16509997" cy="128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Arquitectura del sistema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01703" y="2045554"/>
            <a:ext cx="1143000" cy="50797"/>
            <a:chOff x="0" y="0"/>
            <a:chExt cx="1524000" cy="677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0" cy="67691"/>
            </a:xfrm>
            <a:custGeom>
              <a:avLst/>
              <a:gdLst/>
              <a:ahLst/>
              <a:cxnLst/>
              <a:rect r="r" b="b" t="t" l="l"/>
              <a:pathLst>
                <a:path h="67691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12997" y="2870197"/>
            <a:ext cx="14985997" cy="12697"/>
            <a:chOff x="0" y="0"/>
            <a:chExt cx="199813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81290" cy="16891"/>
            </a:xfrm>
            <a:custGeom>
              <a:avLst/>
              <a:gdLst/>
              <a:ahLst/>
              <a:cxnLst/>
              <a:rect r="r" b="b" t="t" l="l"/>
              <a:pathLst>
                <a:path h="16891" w="19981290">
                  <a:moveTo>
                    <a:pt x="0" y="0"/>
                  </a:moveTo>
                  <a:lnTo>
                    <a:pt x="19981290" y="0"/>
                  </a:lnTo>
                  <a:lnTo>
                    <a:pt x="1998129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34545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9997" y="9505950"/>
            <a:ext cx="888997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727364" y="2045554"/>
            <a:ext cx="12497797" cy="8118229"/>
          </a:xfrm>
          <a:custGeom>
            <a:avLst/>
            <a:gdLst/>
            <a:ahLst/>
            <a:cxnLst/>
            <a:rect r="r" b="b" t="t" l="l"/>
            <a:pathLst>
              <a:path h="8118229" w="12497797">
                <a:moveTo>
                  <a:pt x="0" y="0"/>
                </a:moveTo>
                <a:lnTo>
                  <a:pt x="12497798" y="0"/>
                </a:lnTo>
                <a:lnTo>
                  <a:pt x="12497798" y="8118229"/>
                </a:lnTo>
                <a:lnTo>
                  <a:pt x="0" y="811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315" r="0" b="-1315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32D37">
                <a:alpha val="100000"/>
              </a:srgbClr>
            </a:gs>
            <a:gs pos="100000">
              <a:srgbClr val="18433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8997" y="434978"/>
            <a:ext cx="3048000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AutoGest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1703" y="895350"/>
            <a:ext cx="3174997" cy="29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ACONCAGUA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47997" y="504825"/>
            <a:ext cx="1650997" cy="95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799" b="true">
                <a:solidFill>
                  <a:srgbClr val="436C6E"/>
                </a:solidFill>
                <a:latin typeface="Arial Bold"/>
                <a:ea typeface="Arial Bold"/>
                <a:cs typeface="Arial Bold"/>
                <a:sym typeface="Arial Bold"/>
              </a:rPr>
              <a:t>13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8997" y="1543050"/>
            <a:ext cx="16509997" cy="128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Metodología Scrum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8997" y="2844803"/>
            <a:ext cx="1143000" cy="50797"/>
            <a:chOff x="0" y="0"/>
            <a:chExt cx="1524000" cy="677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0" cy="67691"/>
            </a:xfrm>
            <a:custGeom>
              <a:avLst/>
              <a:gdLst/>
              <a:ahLst/>
              <a:cxnLst/>
              <a:rect r="r" b="b" t="t" l="l"/>
              <a:pathLst>
                <a:path h="67691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12997" y="2870197"/>
            <a:ext cx="14985997" cy="12697"/>
            <a:chOff x="0" y="0"/>
            <a:chExt cx="199813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81290" cy="16891"/>
            </a:xfrm>
            <a:custGeom>
              <a:avLst/>
              <a:gdLst/>
              <a:ahLst/>
              <a:cxnLst/>
              <a:rect r="r" b="b" t="t" l="l"/>
              <a:pathLst>
                <a:path h="16891" w="19981290">
                  <a:moveTo>
                    <a:pt x="0" y="0"/>
                  </a:moveTo>
                  <a:lnTo>
                    <a:pt x="19981290" y="0"/>
                  </a:lnTo>
                  <a:lnTo>
                    <a:pt x="1998129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34545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9997" y="9505950"/>
            <a:ext cx="888997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8997" y="9505950"/>
            <a:ext cx="7620000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Sistema de Gestión Automotriz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8997" y="3346447"/>
            <a:ext cx="888997" cy="52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82803" y="3346447"/>
            <a:ext cx="5588003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Product Backlog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55003" y="3355972"/>
            <a:ext cx="9144000" cy="708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Historias y requerimientos priorizados según las necesidades del cliente.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8997" y="4362450"/>
            <a:ext cx="888997" cy="52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82803" y="4362450"/>
            <a:ext cx="5588003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Sprint Planning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55003" y="4371975"/>
            <a:ext cx="9144000" cy="708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El equipo selecciona y planifica el trabajo del Sprint.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8997" y="5378453"/>
            <a:ext cx="888997" cy="52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82803" y="5378453"/>
            <a:ext cx="5588003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Sprint + Daily Scrum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55003" y="5387978"/>
            <a:ext cx="9144000" cy="708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Desarrollo iterativo, coordinación diaria y gestión de impedimentos.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8997" y="6394447"/>
            <a:ext cx="888997" cy="52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82803" y="6394447"/>
            <a:ext cx="5588003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Sprint Review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55003" y="6403972"/>
            <a:ext cx="9144000" cy="708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Presentación del incremento y recepción de retroalimentación.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8997" y="7410450"/>
            <a:ext cx="888997" cy="52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82803" y="7410450"/>
            <a:ext cx="5588003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2F8F6"/>
                </a:solidFill>
                <a:latin typeface="Arial Bold"/>
                <a:ea typeface="Arial Bold"/>
                <a:cs typeface="Arial Bold"/>
                <a:sym typeface="Arial Bold"/>
              </a:rPr>
              <a:t>Retrospectiva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255003" y="7419975"/>
            <a:ext cx="9144000" cy="708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Evaluación del trabajo y definición de mejoras para el siguiente Sprint.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88997" y="8769353"/>
            <a:ext cx="16256003" cy="50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Incremento del producto. El ciclo se repite durante los cuatro sprints del proyecto.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32D37">
                <a:alpha val="100000"/>
              </a:srgbClr>
            </a:gs>
            <a:gs pos="100000">
              <a:srgbClr val="12383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8997" y="434978"/>
            <a:ext cx="3048000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AutoGest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1703" y="895350"/>
            <a:ext cx="3174997" cy="29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ACONCAGUA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47997" y="504825"/>
            <a:ext cx="1650997" cy="95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799" b="true">
                <a:solidFill>
                  <a:srgbClr val="436C6E"/>
                </a:solidFill>
                <a:latin typeface="Arial Bold"/>
                <a:ea typeface="Arial Bold"/>
                <a:cs typeface="Arial Bold"/>
                <a:sym typeface="Arial Bold"/>
              </a:rPr>
              <a:t>14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8997" y="1543050"/>
            <a:ext cx="16509997" cy="128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Equipo de trabajo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8997" y="2844803"/>
            <a:ext cx="1143000" cy="50797"/>
            <a:chOff x="0" y="0"/>
            <a:chExt cx="1524000" cy="677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0" cy="67691"/>
            </a:xfrm>
            <a:custGeom>
              <a:avLst/>
              <a:gdLst/>
              <a:ahLst/>
              <a:cxnLst/>
              <a:rect r="r" b="b" t="t" l="l"/>
              <a:pathLst>
                <a:path h="67691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12997" y="2870197"/>
            <a:ext cx="14985997" cy="12697"/>
            <a:chOff x="0" y="0"/>
            <a:chExt cx="199813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81290" cy="16891"/>
            </a:xfrm>
            <a:custGeom>
              <a:avLst/>
              <a:gdLst/>
              <a:ahLst/>
              <a:cxnLst/>
              <a:rect r="r" b="b" t="t" l="l"/>
              <a:pathLst>
                <a:path h="16891" w="19981290">
                  <a:moveTo>
                    <a:pt x="0" y="0"/>
                  </a:moveTo>
                  <a:lnTo>
                    <a:pt x="19981290" y="0"/>
                  </a:lnTo>
                  <a:lnTo>
                    <a:pt x="1998129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34545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9997" y="9505950"/>
            <a:ext cx="888997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8997" y="9505950"/>
            <a:ext cx="7620000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Sistema de Gestión Automotriz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88997" y="3492503"/>
            <a:ext cx="5266268" cy="4445003"/>
            <a:chOff x="0" y="0"/>
            <a:chExt cx="7021690" cy="59266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21703" cy="5926709"/>
            </a:xfrm>
            <a:custGeom>
              <a:avLst/>
              <a:gdLst/>
              <a:ahLst/>
              <a:cxnLst/>
              <a:rect r="r" b="b" t="t" l="l"/>
              <a:pathLst>
                <a:path h="5926709" w="7021703">
                  <a:moveTo>
                    <a:pt x="0" y="0"/>
                  </a:moveTo>
                  <a:lnTo>
                    <a:pt x="7021703" y="0"/>
                  </a:lnTo>
                  <a:lnTo>
                    <a:pt x="7021703" y="5926709"/>
                  </a:lnTo>
                  <a:lnTo>
                    <a:pt x="0" y="59267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88997" y="3492503"/>
            <a:ext cx="5266268" cy="38100"/>
            <a:chOff x="0" y="0"/>
            <a:chExt cx="7021690" cy="50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21703" cy="50800"/>
            </a:xfrm>
            <a:custGeom>
              <a:avLst/>
              <a:gdLst/>
              <a:ahLst/>
              <a:cxnLst/>
              <a:rect r="r" b="b" t="t" l="l"/>
              <a:pathLst>
                <a:path h="50800" w="7021703">
                  <a:moveTo>
                    <a:pt x="0" y="0"/>
                  </a:moveTo>
                  <a:lnTo>
                    <a:pt x="7021703" y="0"/>
                  </a:lnTo>
                  <a:lnTo>
                    <a:pt x="7021703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06503" y="3790950"/>
            <a:ext cx="463126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Product Owner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6503" y="4870447"/>
            <a:ext cx="4631265" cy="446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Paulo Palma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Define y prioriza los requerimientos según las necesidades del negocio.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10871" y="3492503"/>
            <a:ext cx="5266268" cy="4445003"/>
            <a:chOff x="0" y="0"/>
            <a:chExt cx="7021690" cy="59266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21703" cy="5926709"/>
            </a:xfrm>
            <a:custGeom>
              <a:avLst/>
              <a:gdLst/>
              <a:ahLst/>
              <a:cxnLst/>
              <a:rect r="r" b="b" t="t" l="l"/>
              <a:pathLst>
                <a:path h="5926709" w="7021703">
                  <a:moveTo>
                    <a:pt x="0" y="0"/>
                  </a:moveTo>
                  <a:lnTo>
                    <a:pt x="7021703" y="0"/>
                  </a:lnTo>
                  <a:lnTo>
                    <a:pt x="7021703" y="5926709"/>
                  </a:lnTo>
                  <a:lnTo>
                    <a:pt x="0" y="59267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510871" y="3492503"/>
            <a:ext cx="5266268" cy="38100"/>
            <a:chOff x="0" y="0"/>
            <a:chExt cx="7021690" cy="50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21703" cy="50800"/>
            </a:xfrm>
            <a:custGeom>
              <a:avLst/>
              <a:gdLst/>
              <a:ahLst/>
              <a:cxnLst/>
              <a:rect r="r" b="b" t="t" l="l"/>
              <a:pathLst>
                <a:path h="50800" w="7021703">
                  <a:moveTo>
                    <a:pt x="0" y="0"/>
                  </a:moveTo>
                  <a:lnTo>
                    <a:pt x="7021703" y="0"/>
                  </a:lnTo>
                  <a:lnTo>
                    <a:pt x="7021703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828368" y="3790950"/>
            <a:ext cx="463126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Scrum Master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28368" y="4870447"/>
            <a:ext cx="4631265" cy="446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Lucas Palma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Facilita Scrum, gestiona impedimentos y acompaña al equipo.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132735" y="3492503"/>
            <a:ext cx="5266268" cy="4445003"/>
            <a:chOff x="0" y="0"/>
            <a:chExt cx="7021690" cy="59266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21703" cy="5926709"/>
            </a:xfrm>
            <a:custGeom>
              <a:avLst/>
              <a:gdLst/>
              <a:ahLst/>
              <a:cxnLst/>
              <a:rect r="r" b="b" t="t" l="l"/>
              <a:pathLst>
                <a:path h="5926709" w="7021703">
                  <a:moveTo>
                    <a:pt x="0" y="0"/>
                  </a:moveTo>
                  <a:lnTo>
                    <a:pt x="7021703" y="0"/>
                  </a:lnTo>
                  <a:lnTo>
                    <a:pt x="7021703" y="5926709"/>
                  </a:lnTo>
                  <a:lnTo>
                    <a:pt x="0" y="59267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132735" y="3492503"/>
            <a:ext cx="5266268" cy="38100"/>
            <a:chOff x="0" y="0"/>
            <a:chExt cx="7021690" cy="50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21703" cy="50800"/>
            </a:xfrm>
            <a:custGeom>
              <a:avLst/>
              <a:gdLst/>
              <a:ahLst/>
              <a:cxnLst/>
              <a:rect r="r" b="b" t="t" l="l"/>
              <a:pathLst>
                <a:path h="50800" w="7021703">
                  <a:moveTo>
                    <a:pt x="0" y="0"/>
                  </a:moveTo>
                  <a:lnTo>
                    <a:pt x="7021703" y="0"/>
                  </a:lnTo>
                  <a:lnTo>
                    <a:pt x="7021703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450232" y="3790950"/>
            <a:ext cx="463126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Desarrolladores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50232" y="4870447"/>
            <a:ext cx="4631265" cy="446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Kevin Álvarez y David Velasco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Diseño, desarrollo, pruebas e implementación de AutoGest Aconcagua.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88997" y="8566147"/>
            <a:ext cx="16256003" cy="65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Un equipo coordinado en torno al valor entregado al cliente.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32D37">
                <a:alpha val="100000"/>
              </a:srgbClr>
            </a:gs>
            <a:gs pos="100000">
              <a:srgbClr val="18433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8997" y="434978"/>
            <a:ext cx="3048000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AutoGest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1703" y="895350"/>
            <a:ext cx="3174997" cy="29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ACONCAGUA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47997" y="504825"/>
            <a:ext cx="1650997" cy="95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799" b="true">
                <a:solidFill>
                  <a:srgbClr val="436C6E"/>
                </a:solidFill>
                <a:latin typeface="Arial Bold"/>
                <a:ea typeface="Arial Bold"/>
                <a:cs typeface="Arial Bold"/>
                <a:sym typeface="Arial Bold"/>
              </a:rPr>
              <a:t>15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8997" y="1543050"/>
            <a:ext cx="16509997" cy="128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Evidencias del proyecto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8997" y="2844803"/>
            <a:ext cx="1143000" cy="50797"/>
            <a:chOff x="0" y="0"/>
            <a:chExt cx="1524000" cy="677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0" cy="67691"/>
            </a:xfrm>
            <a:custGeom>
              <a:avLst/>
              <a:gdLst/>
              <a:ahLst/>
              <a:cxnLst/>
              <a:rect r="r" b="b" t="t" l="l"/>
              <a:pathLst>
                <a:path h="67691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12997" y="2870197"/>
            <a:ext cx="14985997" cy="12697"/>
            <a:chOff x="0" y="0"/>
            <a:chExt cx="199813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81290" cy="16891"/>
            </a:xfrm>
            <a:custGeom>
              <a:avLst/>
              <a:gdLst/>
              <a:ahLst/>
              <a:cxnLst/>
              <a:rect r="r" b="b" t="t" l="l"/>
              <a:pathLst>
                <a:path h="16891" w="19981290">
                  <a:moveTo>
                    <a:pt x="0" y="0"/>
                  </a:moveTo>
                  <a:lnTo>
                    <a:pt x="19981290" y="0"/>
                  </a:lnTo>
                  <a:lnTo>
                    <a:pt x="1998129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34545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9997" y="9505950"/>
            <a:ext cx="888997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8997" y="9505950"/>
            <a:ext cx="7620000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Sistema de Gestión Automotriz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88997" y="3302003"/>
            <a:ext cx="8077200" cy="4635503"/>
            <a:chOff x="0" y="0"/>
            <a:chExt cx="10769600" cy="61806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69600" cy="6180709"/>
            </a:xfrm>
            <a:custGeom>
              <a:avLst/>
              <a:gdLst/>
              <a:ahLst/>
              <a:cxnLst/>
              <a:rect r="r" b="b" t="t" l="l"/>
              <a:pathLst>
                <a:path h="6180709" w="10769600">
                  <a:moveTo>
                    <a:pt x="0" y="0"/>
                  </a:moveTo>
                  <a:lnTo>
                    <a:pt x="10769600" y="0"/>
                  </a:lnTo>
                  <a:lnTo>
                    <a:pt x="10769600" y="6180709"/>
                  </a:lnTo>
                  <a:lnTo>
                    <a:pt x="0" y="61807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88997" y="3302003"/>
            <a:ext cx="8077200" cy="38100"/>
            <a:chOff x="0" y="0"/>
            <a:chExt cx="10769600" cy="50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69600" cy="50800"/>
            </a:xfrm>
            <a:custGeom>
              <a:avLst/>
              <a:gdLst/>
              <a:ahLst/>
              <a:cxnLst/>
              <a:rect r="r" b="b" t="t" l="l"/>
              <a:pathLst>
                <a:path h="50800" w="10769600">
                  <a:moveTo>
                    <a:pt x="0" y="0"/>
                  </a:moveTo>
                  <a:lnTo>
                    <a:pt x="10769600" y="0"/>
                  </a:lnTo>
                  <a:lnTo>
                    <a:pt x="1076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06503" y="3600450"/>
            <a:ext cx="7442197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Evidencias generales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6503" y="4679947"/>
            <a:ext cx="7442197" cy="446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Product Backlog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Historias de usuario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Tablero Kanban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21803" y="3302003"/>
            <a:ext cx="8077200" cy="4635503"/>
            <a:chOff x="0" y="0"/>
            <a:chExt cx="10769600" cy="61806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69600" cy="6180709"/>
            </a:xfrm>
            <a:custGeom>
              <a:avLst/>
              <a:gdLst/>
              <a:ahLst/>
              <a:cxnLst/>
              <a:rect r="r" b="b" t="t" l="l"/>
              <a:pathLst>
                <a:path h="6180709" w="10769600">
                  <a:moveTo>
                    <a:pt x="0" y="0"/>
                  </a:moveTo>
                  <a:lnTo>
                    <a:pt x="10769600" y="0"/>
                  </a:lnTo>
                  <a:lnTo>
                    <a:pt x="10769600" y="6180709"/>
                  </a:lnTo>
                  <a:lnTo>
                    <a:pt x="0" y="61807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321803" y="3302003"/>
            <a:ext cx="8077200" cy="38100"/>
            <a:chOff x="0" y="0"/>
            <a:chExt cx="10769600" cy="50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69600" cy="50800"/>
            </a:xfrm>
            <a:custGeom>
              <a:avLst/>
              <a:gdLst/>
              <a:ahLst/>
              <a:cxnLst/>
              <a:rect r="r" b="b" t="t" l="l"/>
              <a:pathLst>
                <a:path h="50800" w="10769600">
                  <a:moveTo>
                    <a:pt x="0" y="0"/>
                  </a:moveTo>
                  <a:lnTo>
                    <a:pt x="10769600" y="0"/>
                  </a:lnTo>
                  <a:lnTo>
                    <a:pt x="10769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639300" y="3600450"/>
            <a:ext cx="7442197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Evidencias por Sprint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39300" y="4679947"/>
            <a:ext cx="7442197" cy="446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Sprint Planning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Daily Scrum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Sprint Backlog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Sprint Review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Sprint Retrospective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Impediment Log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Burndown Chart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8997" y="8626478"/>
            <a:ext cx="1638300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Las evidencias por Sprint se actualizan durante cada iteración.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32D37">
                <a:alpha val="100000"/>
              </a:srgbClr>
            </a:gs>
            <a:gs pos="100000">
              <a:srgbClr val="12383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8997" y="434978"/>
            <a:ext cx="3048000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AutoGest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1703" y="895350"/>
            <a:ext cx="3174997" cy="29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ACONCAGUA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47997" y="504825"/>
            <a:ext cx="1650997" cy="95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799" b="true">
                <a:solidFill>
                  <a:srgbClr val="436C6E"/>
                </a:solidFill>
                <a:latin typeface="Arial Bold"/>
                <a:ea typeface="Arial Bold"/>
                <a:cs typeface="Arial Bold"/>
                <a:sym typeface="Arial Bold"/>
              </a:rPr>
              <a:t>16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8997" y="1543050"/>
            <a:ext cx="16509997" cy="128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Sprint Backlog: Sprint 1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8997" y="2844803"/>
            <a:ext cx="1143000" cy="50797"/>
            <a:chOff x="0" y="0"/>
            <a:chExt cx="1524000" cy="677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0" cy="67691"/>
            </a:xfrm>
            <a:custGeom>
              <a:avLst/>
              <a:gdLst/>
              <a:ahLst/>
              <a:cxnLst/>
              <a:rect r="r" b="b" t="t" l="l"/>
              <a:pathLst>
                <a:path h="67691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12997" y="2870197"/>
            <a:ext cx="14985997" cy="12697"/>
            <a:chOff x="0" y="0"/>
            <a:chExt cx="199813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81290" cy="16891"/>
            </a:xfrm>
            <a:custGeom>
              <a:avLst/>
              <a:gdLst/>
              <a:ahLst/>
              <a:cxnLst/>
              <a:rect r="r" b="b" t="t" l="l"/>
              <a:pathLst>
                <a:path h="16891" w="19981290">
                  <a:moveTo>
                    <a:pt x="0" y="0"/>
                  </a:moveTo>
                  <a:lnTo>
                    <a:pt x="19981290" y="0"/>
                  </a:lnTo>
                  <a:lnTo>
                    <a:pt x="1998129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34545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9997" y="9505950"/>
            <a:ext cx="888997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8997" y="9505950"/>
            <a:ext cx="7620000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Sistema de Gestión Automotriz</a:t>
            </a:r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889000" y="3365500"/>
          <a:ext cx="16493067" cy="3657600"/>
        </p:xfrm>
        <a:graphic>
          <a:graphicData uri="http://schemas.openxmlformats.org/drawingml/2006/table">
            <a:tbl>
              <a:tblPr/>
              <a:tblGrid>
                <a:gridCol w="8619365"/>
                <a:gridCol w="3298613"/>
                <a:gridCol w="1655626"/>
                <a:gridCol w="2919462"/>
              </a:tblGrid>
              <a:tr h="9236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Historia de usuario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F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Responsable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F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Puntos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F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Estado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F66"/>
                    </a:solidFill>
                  </a:tcPr>
                </a:tc>
              </a:tr>
              <a:tr h="911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HU-01: Inicio de sesión mediante correo y contraseña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B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Lucas Palma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B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B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Completado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B43"/>
                    </a:solidFill>
                  </a:tcPr>
                </a:tc>
              </a:tr>
              <a:tr h="911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HU-02: Registro de vehículos e información de inventario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6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David Velasco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6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6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curso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64B"/>
                    </a:solidFill>
                  </a:tcPr>
                </a:tc>
              </a:tr>
              <a:tr h="911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HU-04: Registro y gestión de clientes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B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Kevin Álvarez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B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B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Completado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B43"/>
                    </a:solidFill>
                  </a:tcPr>
                </a:tc>
              </a:tr>
            </a:tbl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888997" y="7499347"/>
            <a:ext cx="838200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Resumen del Sprint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8997" y="8169278"/>
            <a:ext cx="7112003" cy="87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3 historias de usuario planificadas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29 puntos de historia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89997" y="7927972"/>
            <a:ext cx="8508997" cy="1089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2 HU completadas y 1 HU en curso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Focos: autenticación, gestión de vehículos y gestión de clientes.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2D37">
                <a:alpha val="100000"/>
              </a:srgbClr>
            </a:gs>
            <a:gs pos="100000">
              <a:srgbClr val="18433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8997" y="434978"/>
            <a:ext cx="3048000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AutoGest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1703" y="895350"/>
            <a:ext cx="3174997" cy="29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ACONCAGUA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47997" y="504825"/>
            <a:ext cx="1650997" cy="95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799" b="true">
                <a:solidFill>
                  <a:srgbClr val="436C6E"/>
                </a:solidFill>
                <a:latin typeface="Arial Bold"/>
                <a:ea typeface="Arial Bold"/>
                <a:cs typeface="Arial Bold"/>
                <a:sym typeface="Arial Bold"/>
              </a:rPr>
              <a:t>17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8997" y="1543050"/>
            <a:ext cx="16509997" cy="128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Kanban Board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8997" y="2844803"/>
            <a:ext cx="1143000" cy="50797"/>
            <a:chOff x="0" y="0"/>
            <a:chExt cx="1524000" cy="677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0" cy="67691"/>
            </a:xfrm>
            <a:custGeom>
              <a:avLst/>
              <a:gdLst/>
              <a:ahLst/>
              <a:cxnLst/>
              <a:rect r="r" b="b" t="t" l="l"/>
              <a:pathLst>
                <a:path h="67691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12997" y="2870197"/>
            <a:ext cx="14985997" cy="12697"/>
            <a:chOff x="0" y="0"/>
            <a:chExt cx="199813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81290" cy="16891"/>
            </a:xfrm>
            <a:custGeom>
              <a:avLst/>
              <a:gdLst/>
              <a:ahLst/>
              <a:cxnLst/>
              <a:rect r="r" b="b" t="t" l="l"/>
              <a:pathLst>
                <a:path h="16891" w="19981290">
                  <a:moveTo>
                    <a:pt x="0" y="0"/>
                  </a:moveTo>
                  <a:lnTo>
                    <a:pt x="19981290" y="0"/>
                  </a:lnTo>
                  <a:lnTo>
                    <a:pt x="1998129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34545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9997" y="9505950"/>
            <a:ext cx="888997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8997" y="9505950"/>
            <a:ext cx="7620000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Sistema de Gestión Automotriz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936997" y="2412147"/>
            <a:ext cx="10628449" cy="7533204"/>
            <a:chOff x="0" y="0"/>
            <a:chExt cx="11348174" cy="80433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48212" cy="8043291"/>
            </a:xfrm>
            <a:custGeom>
              <a:avLst/>
              <a:gdLst/>
              <a:ahLst/>
              <a:cxnLst/>
              <a:rect r="r" b="b" t="t" l="l"/>
              <a:pathLst>
                <a:path h="8043291" w="11348212">
                  <a:moveTo>
                    <a:pt x="0" y="0"/>
                  </a:moveTo>
                  <a:lnTo>
                    <a:pt x="11348212" y="0"/>
                  </a:lnTo>
                  <a:lnTo>
                    <a:pt x="11348212" y="8043291"/>
                  </a:lnTo>
                  <a:lnTo>
                    <a:pt x="0" y="8043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32D37">
                <a:alpha val="100000"/>
              </a:srgbClr>
            </a:gs>
            <a:gs pos="100000">
              <a:srgbClr val="12383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8997" y="434978"/>
            <a:ext cx="3048000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AutoGest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1703" y="895350"/>
            <a:ext cx="3174997" cy="29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ACONCAGUA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47997" y="504825"/>
            <a:ext cx="1650997" cy="95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799" b="true">
                <a:solidFill>
                  <a:srgbClr val="436C6E"/>
                </a:solidFill>
                <a:latin typeface="Arial Bold"/>
                <a:ea typeface="Arial Bold"/>
                <a:cs typeface="Arial Bold"/>
                <a:sym typeface="Arial Bold"/>
              </a:rPr>
              <a:t>18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8997" y="1543050"/>
            <a:ext cx="16509997" cy="128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Impediment Log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8997" y="2844803"/>
            <a:ext cx="1143000" cy="50797"/>
            <a:chOff x="0" y="0"/>
            <a:chExt cx="1524000" cy="677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0" cy="67691"/>
            </a:xfrm>
            <a:custGeom>
              <a:avLst/>
              <a:gdLst/>
              <a:ahLst/>
              <a:cxnLst/>
              <a:rect r="r" b="b" t="t" l="l"/>
              <a:pathLst>
                <a:path h="67691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12997" y="2870197"/>
            <a:ext cx="14985997" cy="12697"/>
            <a:chOff x="0" y="0"/>
            <a:chExt cx="199813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81290" cy="16891"/>
            </a:xfrm>
            <a:custGeom>
              <a:avLst/>
              <a:gdLst/>
              <a:ahLst/>
              <a:cxnLst/>
              <a:rect r="r" b="b" t="t" l="l"/>
              <a:pathLst>
                <a:path h="16891" w="19981290">
                  <a:moveTo>
                    <a:pt x="0" y="0"/>
                  </a:moveTo>
                  <a:lnTo>
                    <a:pt x="19981290" y="0"/>
                  </a:lnTo>
                  <a:lnTo>
                    <a:pt x="1998129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34545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9997" y="9505950"/>
            <a:ext cx="888997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8997" y="9505950"/>
            <a:ext cx="7620000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Sistema de Gestión Automotriz</a:t>
            </a:r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889000" y="3429000"/>
          <a:ext cx="16476133" cy="5571067"/>
        </p:xfrm>
        <a:graphic>
          <a:graphicData uri="http://schemas.openxmlformats.org/drawingml/2006/table">
            <a:tbl>
              <a:tblPr/>
              <a:tblGrid>
                <a:gridCol w="2360948"/>
                <a:gridCol w="5694051"/>
                <a:gridCol w="6199066"/>
                <a:gridCol w="2222069"/>
              </a:tblGrid>
              <a:tr h="8064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Impedimento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F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Descripción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F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Acción realizada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F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Estado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F66"/>
                    </a:solidFill>
                  </a:tcPr>
                </a:tc>
              </a:tr>
              <a:tr h="7941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IMP-001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B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Dificultad para coordinar reunión con el Product Owner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B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Pauta previa + videollamada breve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B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Resuelto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B43"/>
                    </a:solidFill>
                  </a:tcPr>
                </a:tc>
              </a:tr>
              <a:tr h="7941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IMP-002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6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Diferencias de horarios del equipo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6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Coordinación asíncrona por WhatsApp/Discord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6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Resuelto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64B"/>
                    </a:solidFill>
                  </a:tcPr>
                </a:tc>
              </a:tr>
              <a:tr h="7941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IMP-003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B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Debate sobre el stack tecnológico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B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Comparación técnica y selección del stack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B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Resuelto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B43"/>
                    </a:solidFill>
                  </a:tcPr>
                </a:tc>
              </a:tr>
              <a:tr h="7941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IMP-004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6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Desfase respecto a la Carta Gantt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6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 de nivelación de tareas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6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Resuelto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64B"/>
                    </a:solidFill>
                  </a:tcPr>
                </a:tc>
              </a:tr>
              <a:tr h="7941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IMP-005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B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Historias de usuario con mayor esfuerzo al estimado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B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Redistribución y repriorización de tareas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B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Resuelto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B43"/>
                    </a:solidFill>
                  </a:tcPr>
                </a:tc>
              </a:tr>
              <a:tr h="7941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IMP-006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6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Dificultades para integrar ramas de desarrollo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6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Integración de ramas + pruebas funcionales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6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Resuelto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6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2D37">
                <a:alpha val="100000"/>
              </a:srgbClr>
            </a:gs>
            <a:gs pos="100000">
              <a:srgbClr val="18433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8997" y="434978"/>
            <a:ext cx="3048000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AutoGest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1703" y="895350"/>
            <a:ext cx="3174997" cy="29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ACONCAGUA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47997" y="504825"/>
            <a:ext cx="1650997" cy="95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799" b="true">
                <a:solidFill>
                  <a:srgbClr val="436C6E"/>
                </a:solidFill>
                <a:latin typeface="Arial Bold"/>
                <a:ea typeface="Arial Bold"/>
                <a:cs typeface="Arial Bold"/>
                <a:sym typeface="Arial Bold"/>
              </a:rPr>
              <a:t>19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8997" y="1543050"/>
            <a:ext cx="16509997" cy="128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Burndown Chart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8997" y="2844803"/>
            <a:ext cx="1143000" cy="50797"/>
            <a:chOff x="0" y="0"/>
            <a:chExt cx="1524000" cy="677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0" cy="67691"/>
            </a:xfrm>
            <a:custGeom>
              <a:avLst/>
              <a:gdLst/>
              <a:ahLst/>
              <a:cxnLst/>
              <a:rect r="r" b="b" t="t" l="l"/>
              <a:pathLst>
                <a:path h="67691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12997" y="2870197"/>
            <a:ext cx="14985997" cy="12697"/>
            <a:chOff x="0" y="0"/>
            <a:chExt cx="199813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81290" cy="16891"/>
            </a:xfrm>
            <a:custGeom>
              <a:avLst/>
              <a:gdLst/>
              <a:ahLst/>
              <a:cxnLst/>
              <a:rect r="r" b="b" t="t" l="l"/>
              <a:pathLst>
                <a:path h="16891" w="19981290">
                  <a:moveTo>
                    <a:pt x="0" y="0"/>
                  </a:moveTo>
                  <a:lnTo>
                    <a:pt x="19981290" y="0"/>
                  </a:lnTo>
                  <a:lnTo>
                    <a:pt x="1998129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34545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9997" y="9505950"/>
            <a:ext cx="888997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037940" y="2432873"/>
            <a:ext cx="13084230" cy="7269925"/>
          </a:xfrm>
          <a:custGeom>
            <a:avLst/>
            <a:gdLst/>
            <a:ahLst/>
            <a:cxnLst/>
            <a:rect r="r" b="b" t="t" l="l"/>
            <a:pathLst>
              <a:path h="7269925" w="13084230">
                <a:moveTo>
                  <a:pt x="0" y="0"/>
                </a:moveTo>
                <a:lnTo>
                  <a:pt x="13084230" y="0"/>
                </a:lnTo>
                <a:lnTo>
                  <a:pt x="13084230" y="7269925"/>
                </a:lnTo>
                <a:lnTo>
                  <a:pt x="0" y="72699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32D37">
                <a:alpha val="100000"/>
              </a:srgbClr>
            </a:gs>
            <a:gs pos="100000">
              <a:srgbClr val="12383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8997" y="434978"/>
            <a:ext cx="3048000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AutoGest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1703" y="895350"/>
            <a:ext cx="3174997" cy="29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ACONCAGUA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47997" y="504825"/>
            <a:ext cx="1650997" cy="95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799" b="true">
                <a:solidFill>
                  <a:srgbClr val="436C6E"/>
                </a:solidFill>
                <a:latin typeface="Arial Bold"/>
                <a:ea typeface="Arial Bold"/>
                <a:cs typeface="Arial Bold"/>
                <a:sym typeface="Arial Bold"/>
              </a:rPr>
              <a:t>20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8997" y="1543050"/>
            <a:ext cx="16509997" cy="128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Sprint Review: Sprint 1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8997" y="2844803"/>
            <a:ext cx="1143000" cy="50797"/>
            <a:chOff x="0" y="0"/>
            <a:chExt cx="1524000" cy="677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0" cy="67691"/>
            </a:xfrm>
            <a:custGeom>
              <a:avLst/>
              <a:gdLst/>
              <a:ahLst/>
              <a:cxnLst/>
              <a:rect r="r" b="b" t="t" l="l"/>
              <a:pathLst>
                <a:path h="67691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12997" y="2870197"/>
            <a:ext cx="14985997" cy="12697"/>
            <a:chOff x="0" y="0"/>
            <a:chExt cx="199813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81290" cy="16891"/>
            </a:xfrm>
            <a:custGeom>
              <a:avLst/>
              <a:gdLst/>
              <a:ahLst/>
              <a:cxnLst/>
              <a:rect r="r" b="b" t="t" l="l"/>
              <a:pathLst>
                <a:path h="16891" w="19981290">
                  <a:moveTo>
                    <a:pt x="0" y="0"/>
                  </a:moveTo>
                  <a:lnTo>
                    <a:pt x="19981290" y="0"/>
                  </a:lnTo>
                  <a:lnTo>
                    <a:pt x="1998129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34545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9997" y="9505950"/>
            <a:ext cx="888997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8997" y="9505950"/>
            <a:ext cx="7620000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Sistema de Gestión Automotriz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1704" y="3693233"/>
            <a:ext cx="7746997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Objetivo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1704" y="4261552"/>
            <a:ext cx="7746997" cy="1177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Presentar el incremento, validar funcionalidades con el Product Owner y recoger feedback para el Sprint 2.</a:t>
            </a:r>
          </a:p>
        </p:txBody>
      </p: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540167" y="6125280"/>
          <a:ext cx="7738533" cy="2302933"/>
        </p:xfrm>
        <a:graphic>
          <a:graphicData uri="http://schemas.openxmlformats.org/drawingml/2006/table">
            <a:tbl>
              <a:tblPr/>
              <a:tblGrid>
                <a:gridCol w="1411589"/>
                <a:gridCol w="4297785"/>
                <a:gridCol w="2029159"/>
              </a:tblGrid>
              <a:tr h="584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HU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F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Funcionalidad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F6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Resultado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F66"/>
                    </a:solidFill>
                  </a:tcPr>
                </a:tc>
              </a:tr>
              <a:tr h="5727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HU-01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B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Inicio de sesión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B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Aceptada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B43"/>
                    </a:solidFill>
                  </a:tcPr>
                </a:tc>
              </a:tr>
              <a:tr h="5727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HU-02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6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Registro de vehículos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6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Parcial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64B"/>
                    </a:solidFill>
                  </a:tcPr>
                </a:tc>
              </a:tr>
              <a:tr h="5727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HU-04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B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Registro de clientes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B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Parcial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B43"/>
                    </a:solidFill>
                  </a:tcPr>
                </a:tc>
              </a:tr>
            </a:tbl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9143995" y="3693233"/>
            <a:ext cx="7746997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Incremento presentado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3995" y="4252027"/>
            <a:ext cx="7746997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Frontend funcional con React + Vite.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Autenticación con JWT.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Navegación y diseño responsivo.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Formularios de vehículos y clientes.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Datos aún en mock/local.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2D37">
                <a:alpha val="100000"/>
              </a:srgbClr>
            </a:gs>
            <a:gs pos="100000">
              <a:srgbClr val="12383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8997" y="2844803"/>
            <a:ext cx="1143000" cy="50797"/>
            <a:chOff x="0" y="0"/>
            <a:chExt cx="1524000" cy="67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" cy="67691"/>
            </a:xfrm>
            <a:custGeom>
              <a:avLst/>
              <a:gdLst/>
              <a:ahLst/>
              <a:cxnLst/>
              <a:rect r="r" b="b" t="t" l="l"/>
              <a:pathLst>
                <a:path h="67691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12997" y="2870197"/>
            <a:ext cx="14985997" cy="12697"/>
            <a:chOff x="0" y="0"/>
            <a:chExt cx="19981329" cy="16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81290" cy="16891"/>
            </a:xfrm>
            <a:custGeom>
              <a:avLst/>
              <a:gdLst/>
              <a:ahLst/>
              <a:cxnLst/>
              <a:rect r="r" b="b" t="t" l="l"/>
              <a:pathLst>
                <a:path h="16891" w="19981290">
                  <a:moveTo>
                    <a:pt x="0" y="0"/>
                  </a:moveTo>
                  <a:lnTo>
                    <a:pt x="19981290" y="0"/>
                  </a:lnTo>
                  <a:lnTo>
                    <a:pt x="1998129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34545D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276064" y="3216858"/>
            <a:ext cx="4633713" cy="6164677"/>
          </a:xfrm>
          <a:custGeom>
            <a:avLst/>
            <a:gdLst/>
            <a:ahLst/>
            <a:cxnLst/>
            <a:rect r="r" b="b" t="t" l="l"/>
            <a:pathLst>
              <a:path h="6164677" w="4633713">
                <a:moveTo>
                  <a:pt x="0" y="0"/>
                </a:moveTo>
                <a:lnTo>
                  <a:pt x="4633713" y="0"/>
                </a:lnTo>
                <a:lnTo>
                  <a:pt x="4633713" y="6164677"/>
                </a:lnTo>
                <a:lnTo>
                  <a:pt x="0" y="61646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288" t="-6648" r="-40720" b="-614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88997" y="434978"/>
            <a:ext cx="3048000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AutoGest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1703" y="895350"/>
            <a:ext cx="3174997" cy="29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ACONCAGUA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47997" y="504825"/>
            <a:ext cx="819299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799" b="true">
                <a:solidFill>
                  <a:srgbClr val="436C6E"/>
                </a:solidFill>
                <a:latin typeface="Arial Bold"/>
                <a:ea typeface="Arial Bold"/>
                <a:cs typeface="Arial Bold"/>
                <a:sym typeface="Arial Bold"/>
              </a:rPr>
              <a:t>21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8997" y="1543050"/>
            <a:ext cx="16509997" cy="128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Sprint Review: Sprint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09997" y="9505950"/>
            <a:ext cx="88899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8997" y="9505950"/>
            <a:ext cx="7620000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Sistema de Gestión Automotriz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87341" y="3282944"/>
            <a:ext cx="7746997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Feedback del Product Owner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87341" y="3829050"/>
            <a:ext cx="7746997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Interfaz intuitiva y navegación adecuada.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Se valida la priorización de la autenticación.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Prioridad para Sprint 2: conexión con PostgreSQL.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87341" y="5621041"/>
            <a:ext cx="774699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Resultado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87341" y="6040141"/>
            <a:ext cx="7746997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El Product Owner revisó el incremento y entregó retroalimentación para orientar el Sprint 2.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87341" y="7687966"/>
            <a:ext cx="774699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Próximos pasos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187341" y="8145166"/>
            <a:ext cx="7746997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Configurar modelos y migraciones PostgreSQL. Integrar endpoints CRUD de vehículos y clientes. Realizar pruebas de integración.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32D37">
                <a:alpha val="100000"/>
              </a:srgbClr>
            </a:gs>
            <a:gs pos="100000">
              <a:srgbClr val="18433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8997" y="434978"/>
            <a:ext cx="3048000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AutoGest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1703" y="895350"/>
            <a:ext cx="3174997" cy="29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ACONCAGUA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47997" y="504825"/>
            <a:ext cx="819299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799" b="true">
                <a:solidFill>
                  <a:srgbClr val="436C6E"/>
                </a:solidFill>
                <a:latin typeface="Arial Bold"/>
                <a:ea typeface="Arial Bold"/>
                <a:cs typeface="Arial Bold"/>
                <a:sym typeface="Arial Bold"/>
              </a:rPr>
              <a:t>22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8997" y="1546222"/>
            <a:ext cx="13970003" cy="854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Cronograma del proyecto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70003" y="1711328"/>
            <a:ext cx="3429000" cy="688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15 semanas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8997" y="2559053"/>
            <a:ext cx="1206500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Sprints de hasta 4 semanas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23997" y="2571750"/>
            <a:ext cx="317499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F2CB84"/>
                </a:solidFill>
                <a:latin typeface="Arial Bold"/>
                <a:ea typeface="Arial Bold"/>
                <a:cs typeface="Arial Bold"/>
                <a:sym typeface="Arial Bold"/>
              </a:rPr>
              <a:t>Semana actual: S10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762003" y="3022602"/>
          <a:ext cx="16510000" cy="5181600"/>
        </p:xfrm>
        <a:graphic>
          <a:graphicData uri="http://schemas.openxmlformats.org/drawingml/2006/table">
            <a:tbl>
              <a:tblPr/>
              <a:tblGrid>
                <a:gridCol w="5057593"/>
                <a:gridCol w="763494"/>
                <a:gridCol w="763494"/>
                <a:gridCol w="763494"/>
                <a:gridCol w="763494"/>
                <a:gridCol w="763494"/>
                <a:gridCol w="763494"/>
                <a:gridCol w="763494"/>
                <a:gridCol w="763494"/>
                <a:gridCol w="763494"/>
                <a:gridCol w="763494"/>
                <a:gridCol w="763494"/>
                <a:gridCol w="763494"/>
                <a:gridCol w="763494"/>
                <a:gridCol w="763494"/>
                <a:gridCol w="763494"/>
              </a:tblGrid>
              <a:tr h="6982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9CD6C6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Planificación y desarrollo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059"/>
                    </a:solidFill>
                  </a:tcPr>
                </a:tc>
                <a:tc gridSpan="4"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Sprint 0</a:t>
                      </a:r>
                      <a:endParaRPr lang="en-US" sz="1100"/>
                    </a:p>
                    <a:p>
                      <a:pPr algn="ctr">
                        <a:lnSpc>
                          <a:spcPts val="2279"/>
                        </a:lnSpc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4 semanas</a:t>
                      </a:r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57D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Sprint 0</a:t>
                      </a:r>
                      <a:endParaRPr lang="en-US" sz="1100"/>
                    </a:p>
                    <a:p>
                      <a:pPr algn="ctr">
                        <a:lnSpc>
                          <a:spcPts val="2279"/>
                        </a:lnSpc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4 semanas</a:t>
                      </a:r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57D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Sprint 0</a:t>
                      </a:r>
                      <a:endParaRPr lang="en-US" sz="1100"/>
                    </a:p>
                    <a:p>
                      <a:pPr algn="ctr">
                        <a:lnSpc>
                          <a:spcPts val="2279"/>
                        </a:lnSpc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4 semanas</a:t>
                      </a:r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57D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Sprint 0</a:t>
                      </a:r>
                      <a:endParaRPr lang="en-US" sz="1100"/>
                    </a:p>
                    <a:p>
                      <a:pPr algn="ctr">
                        <a:lnSpc>
                          <a:spcPts val="2279"/>
                        </a:lnSpc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4 semanas</a:t>
                      </a:r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57D"/>
                    </a:solidFill>
                  </a:tcPr>
                </a:tc>
                <a:tc gridSpan="4"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Sprint 1</a:t>
                      </a:r>
                      <a:endParaRPr lang="en-US" sz="1100"/>
                    </a:p>
                    <a:p>
                      <a:pPr algn="ctr">
                        <a:lnSpc>
                          <a:spcPts val="2279"/>
                        </a:lnSpc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4 semanas</a:t>
                      </a:r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8E8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Sprint 1</a:t>
                      </a:r>
                      <a:endParaRPr lang="en-US" sz="1100"/>
                    </a:p>
                    <a:p>
                      <a:pPr algn="ctr">
                        <a:lnSpc>
                          <a:spcPts val="2279"/>
                        </a:lnSpc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4 semanas</a:t>
                      </a:r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8E8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Sprint 1</a:t>
                      </a:r>
                      <a:endParaRPr lang="en-US" sz="1100"/>
                    </a:p>
                    <a:p>
                      <a:pPr algn="ctr">
                        <a:lnSpc>
                          <a:spcPts val="2279"/>
                        </a:lnSpc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4 semanas</a:t>
                      </a:r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8E8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Sprint 1</a:t>
                      </a:r>
                      <a:endParaRPr lang="en-US" sz="1100"/>
                    </a:p>
                    <a:p>
                      <a:pPr algn="ctr">
                        <a:lnSpc>
                          <a:spcPts val="2279"/>
                        </a:lnSpc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4 semanas</a:t>
                      </a:r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8E83"/>
                    </a:solidFill>
                  </a:tcPr>
                </a:tc>
                <a:tc gridSpan="3"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132D37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Sprint 2</a:t>
                      </a:r>
                      <a:endParaRPr lang="en-US" sz="1100"/>
                    </a:p>
                    <a:p>
                      <a:pPr algn="ctr">
                        <a:lnSpc>
                          <a:spcPts val="2279"/>
                        </a:lnSpc>
                      </a:pPr>
                      <a:r>
                        <a:rPr lang="en-US" sz="1899" b="true">
                          <a:solidFill>
                            <a:srgbClr val="132D37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3 semanas</a:t>
                      </a:r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B4A1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132D37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Sprint 2</a:t>
                      </a:r>
                      <a:endParaRPr lang="en-US" sz="1100"/>
                    </a:p>
                    <a:p>
                      <a:pPr algn="ctr">
                        <a:lnSpc>
                          <a:spcPts val="2279"/>
                        </a:lnSpc>
                      </a:pPr>
                      <a:r>
                        <a:rPr lang="en-US" sz="1899" b="true">
                          <a:solidFill>
                            <a:srgbClr val="132D37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3 semanas</a:t>
                      </a:r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B4A1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132D37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Sprint 2</a:t>
                      </a:r>
                      <a:endParaRPr lang="en-US" sz="1100"/>
                    </a:p>
                    <a:p>
                      <a:pPr algn="ctr">
                        <a:lnSpc>
                          <a:spcPts val="2279"/>
                        </a:lnSpc>
                      </a:pPr>
                      <a:r>
                        <a:rPr lang="en-US" sz="1899" b="true">
                          <a:solidFill>
                            <a:srgbClr val="132D37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3 semanas</a:t>
                      </a:r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B4A1"/>
                    </a:solidFill>
                  </a:tcPr>
                </a:tc>
                <a:tc gridSpan="3"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Sprint 3</a:t>
                      </a:r>
                      <a:endParaRPr lang="en-US" sz="1100"/>
                    </a:p>
                    <a:p>
                      <a:pPr algn="ctr">
                        <a:lnSpc>
                          <a:spcPts val="2279"/>
                        </a:lnSpc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3 semanas</a:t>
                      </a:r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8B9A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Sprint 3</a:t>
                      </a:r>
                      <a:endParaRPr lang="en-US" sz="1100"/>
                    </a:p>
                    <a:p>
                      <a:pPr algn="ctr">
                        <a:lnSpc>
                          <a:spcPts val="2279"/>
                        </a:lnSpc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3 semanas</a:t>
                      </a:r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8B9A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Sprint 3</a:t>
                      </a:r>
                      <a:endParaRPr lang="en-US" sz="1100"/>
                    </a:p>
                    <a:p>
                      <a:pPr algn="ctr">
                        <a:lnSpc>
                          <a:spcPts val="2279"/>
                        </a:lnSpc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3 semanas</a:t>
                      </a:r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8B9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132D37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Sprint 4</a:t>
                      </a: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</a:pPr>
                      <a:r>
                        <a:rPr lang="en-US" sz="1400" b="true">
                          <a:solidFill>
                            <a:srgbClr val="132D37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1 sem.</a:t>
                      </a:r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BDA7"/>
                    </a:solidFill>
                  </a:tcPr>
                </a:tc>
              </a:tr>
              <a:tr h="3736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2F8F6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Actividades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0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2F8F6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S1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0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2F8F6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S2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0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2F8F6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S3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0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2F8F6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S4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0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2F8F6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S5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0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2F8F6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S6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0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2F8F6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S7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0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2F8F6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S8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0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2F8F6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S9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0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32D37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S10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B8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2F8F6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S11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0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2F8F6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S12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0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2F8F6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S13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0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2F8F6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S14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0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2F8F6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S15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059"/>
                    </a:solidFill>
                  </a:tcPr>
                </a:tc>
              </a:tr>
              <a:tr h="3736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2F8F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Backlog y levantamiento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57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57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57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</a:tr>
              <a:tr h="3736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2F8F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Arquitectura y entorno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57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57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57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</a:tr>
              <a:tr h="3736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2F8F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Acceso y usuarios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8E8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8E8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8E8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8E8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</a:tr>
              <a:tr h="3736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2F8F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Vehículos y clientes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8E8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8E8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8E8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8E8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</a:tr>
              <a:tr h="3736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2F8F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Ventas, gastos y oportunidades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B4A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B4A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B4A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</a:tr>
              <a:tr h="3736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2F8F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Dashboard de gestión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B4A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B4A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B4A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</a:tr>
              <a:tr h="3736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2F8F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Ficha técnica vehicular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8B9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8B9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8B9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</a:tr>
              <a:tr h="3736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2F8F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Integraciones y pruebas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8B9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8B9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</a:tr>
              <a:tr h="3736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2F8F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Recomendación con IA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8B9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8B9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</a:tr>
              <a:tr h="3736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2F8F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Validación del MVP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4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BDA7"/>
                    </a:solidFill>
                  </a:tcPr>
                </a:tc>
              </a:tr>
              <a:tr h="3736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2F8F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Documentación y cierre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5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47625" marR="47625" marT="47625" marB="476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239">
                      <a:solidFill>
                        <a:srgbClr val="345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BDA7"/>
                    </a:solidFill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888997" y="8816978"/>
            <a:ext cx="3048000" cy="3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S4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8997" y="9185272"/>
            <a:ext cx="3174997" cy="41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Plan definido y EV1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91000" y="8816978"/>
            <a:ext cx="3048000" cy="3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2CB84"/>
                </a:solidFill>
                <a:latin typeface="Arial Bold"/>
                <a:ea typeface="Arial Bold"/>
                <a:cs typeface="Arial Bold"/>
                <a:sym typeface="Arial Bold"/>
              </a:rPr>
              <a:t>S10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91000" y="9185272"/>
            <a:ext cx="3174997" cy="41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Base funcional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93003" y="8816978"/>
            <a:ext cx="3048000" cy="3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S11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93003" y="9185272"/>
            <a:ext cx="3174997" cy="41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Gestión integrada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94997" y="8816978"/>
            <a:ext cx="3048000" cy="3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S14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94997" y="9185272"/>
            <a:ext cx="3174997" cy="41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Integraciones validadas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097000" y="8816978"/>
            <a:ext cx="3048000" cy="3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S15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097000" y="9185272"/>
            <a:ext cx="3174997" cy="41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MVP validado y cierre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8997" y="9848850"/>
            <a:ext cx="1397000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Planning, Daily, Review y Retrospective en cada sprint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764000" y="9848850"/>
            <a:ext cx="63500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32D37">
                <a:alpha val="100000"/>
              </a:srgbClr>
            </a:gs>
            <a:gs pos="100000">
              <a:srgbClr val="12383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8997" y="434978"/>
            <a:ext cx="3048000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AutoGest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1703" y="895350"/>
            <a:ext cx="3174997" cy="29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ACONCAGUA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47997" y="504825"/>
            <a:ext cx="819299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799" b="true">
                <a:solidFill>
                  <a:srgbClr val="436C6E"/>
                </a:solidFill>
                <a:latin typeface="Arial Bold"/>
                <a:ea typeface="Arial Bold"/>
                <a:cs typeface="Arial Bold"/>
                <a:sym typeface="Arial Bold"/>
              </a:rPr>
              <a:t>23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8997" y="1543050"/>
            <a:ext cx="16509997" cy="128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Conclusiones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8997" y="2844803"/>
            <a:ext cx="1143000" cy="50797"/>
            <a:chOff x="0" y="0"/>
            <a:chExt cx="1524000" cy="677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0" cy="67691"/>
            </a:xfrm>
            <a:custGeom>
              <a:avLst/>
              <a:gdLst/>
              <a:ahLst/>
              <a:cxnLst/>
              <a:rect r="r" b="b" t="t" l="l"/>
              <a:pathLst>
                <a:path h="67691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12997" y="2870197"/>
            <a:ext cx="14985997" cy="12697"/>
            <a:chOff x="0" y="0"/>
            <a:chExt cx="199813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81290" cy="16891"/>
            </a:xfrm>
            <a:custGeom>
              <a:avLst/>
              <a:gdLst/>
              <a:ahLst/>
              <a:cxnLst/>
              <a:rect r="r" b="b" t="t" l="l"/>
              <a:pathLst>
                <a:path h="16891" w="19981290">
                  <a:moveTo>
                    <a:pt x="0" y="0"/>
                  </a:moveTo>
                  <a:lnTo>
                    <a:pt x="19981290" y="0"/>
                  </a:lnTo>
                  <a:lnTo>
                    <a:pt x="1998129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34545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9997" y="9505950"/>
            <a:ext cx="88899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8997" y="9505950"/>
            <a:ext cx="7620000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Sistema de Gestión Automotriz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88997" y="3555997"/>
            <a:ext cx="5266268" cy="4445003"/>
            <a:chOff x="0" y="0"/>
            <a:chExt cx="7021690" cy="59266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21703" cy="5926709"/>
            </a:xfrm>
            <a:custGeom>
              <a:avLst/>
              <a:gdLst/>
              <a:ahLst/>
              <a:cxnLst/>
              <a:rect r="r" b="b" t="t" l="l"/>
              <a:pathLst>
                <a:path h="5926709" w="7021703">
                  <a:moveTo>
                    <a:pt x="0" y="0"/>
                  </a:moveTo>
                  <a:lnTo>
                    <a:pt x="7021703" y="0"/>
                  </a:lnTo>
                  <a:lnTo>
                    <a:pt x="7021703" y="5926709"/>
                  </a:lnTo>
                  <a:lnTo>
                    <a:pt x="0" y="59267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88997" y="3555997"/>
            <a:ext cx="5266268" cy="38100"/>
            <a:chOff x="0" y="0"/>
            <a:chExt cx="7021690" cy="50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21703" cy="50800"/>
            </a:xfrm>
            <a:custGeom>
              <a:avLst/>
              <a:gdLst/>
              <a:ahLst/>
              <a:cxnLst/>
              <a:rect r="r" b="b" t="t" l="l"/>
              <a:pathLst>
                <a:path h="50800" w="7021703">
                  <a:moveTo>
                    <a:pt x="0" y="0"/>
                  </a:moveTo>
                  <a:lnTo>
                    <a:pt x="7021703" y="0"/>
                  </a:lnTo>
                  <a:lnTo>
                    <a:pt x="7021703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06503" y="3854453"/>
            <a:ext cx="463126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Lucas Palma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6503" y="4943475"/>
            <a:ext cx="4631265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El proyecto demuestra la importancia de planificar y organizar cada etapa antes de comenzar el desarrollo.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10871" y="3555997"/>
            <a:ext cx="5266268" cy="4445003"/>
            <a:chOff x="0" y="0"/>
            <a:chExt cx="7021690" cy="59266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21703" cy="5926709"/>
            </a:xfrm>
            <a:custGeom>
              <a:avLst/>
              <a:gdLst/>
              <a:ahLst/>
              <a:cxnLst/>
              <a:rect r="r" b="b" t="t" l="l"/>
              <a:pathLst>
                <a:path h="5926709" w="7021703">
                  <a:moveTo>
                    <a:pt x="0" y="0"/>
                  </a:moveTo>
                  <a:lnTo>
                    <a:pt x="7021703" y="0"/>
                  </a:lnTo>
                  <a:lnTo>
                    <a:pt x="7021703" y="5926709"/>
                  </a:lnTo>
                  <a:lnTo>
                    <a:pt x="0" y="59267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510871" y="3555997"/>
            <a:ext cx="5266268" cy="38100"/>
            <a:chOff x="0" y="0"/>
            <a:chExt cx="7021690" cy="50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21703" cy="50800"/>
            </a:xfrm>
            <a:custGeom>
              <a:avLst/>
              <a:gdLst/>
              <a:ahLst/>
              <a:cxnLst/>
              <a:rect r="r" b="b" t="t" l="l"/>
              <a:pathLst>
                <a:path h="50800" w="7021703">
                  <a:moveTo>
                    <a:pt x="0" y="0"/>
                  </a:moveTo>
                  <a:lnTo>
                    <a:pt x="7021703" y="0"/>
                  </a:lnTo>
                  <a:lnTo>
                    <a:pt x="7021703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828368" y="3854453"/>
            <a:ext cx="463126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Kevin Álvarez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28368" y="4943475"/>
            <a:ext cx="4631265" cy="4454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La propuesta permite aplicar tecnologías web para responder a una necesidad real de la automotora.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132735" y="3555997"/>
            <a:ext cx="5266268" cy="4445003"/>
            <a:chOff x="0" y="0"/>
            <a:chExt cx="7021690" cy="59266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21703" cy="5926709"/>
            </a:xfrm>
            <a:custGeom>
              <a:avLst/>
              <a:gdLst/>
              <a:ahLst/>
              <a:cxnLst/>
              <a:rect r="r" b="b" t="t" l="l"/>
              <a:pathLst>
                <a:path h="5926709" w="7021703">
                  <a:moveTo>
                    <a:pt x="0" y="0"/>
                  </a:moveTo>
                  <a:lnTo>
                    <a:pt x="7021703" y="0"/>
                  </a:lnTo>
                  <a:lnTo>
                    <a:pt x="7021703" y="5926709"/>
                  </a:lnTo>
                  <a:lnTo>
                    <a:pt x="0" y="5926709"/>
                  </a:lnTo>
                  <a:close/>
                </a:path>
              </a:pathLst>
            </a:custGeom>
            <a:solidFill>
              <a:srgbClr val="1D414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132735" y="3555997"/>
            <a:ext cx="5266268" cy="38100"/>
            <a:chOff x="0" y="0"/>
            <a:chExt cx="7021690" cy="50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21703" cy="50800"/>
            </a:xfrm>
            <a:custGeom>
              <a:avLst/>
              <a:gdLst/>
              <a:ahLst/>
              <a:cxnLst/>
              <a:rect r="r" b="b" t="t" l="l"/>
              <a:pathLst>
                <a:path h="50800" w="7021703">
                  <a:moveTo>
                    <a:pt x="0" y="0"/>
                  </a:moveTo>
                  <a:lnTo>
                    <a:pt x="7021703" y="0"/>
                  </a:lnTo>
                  <a:lnTo>
                    <a:pt x="7021703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CD6C6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450232" y="3854453"/>
            <a:ext cx="463126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David Velasco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50232" y="4943475"/>
            <a:ext cx="4631265" cy="4454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F2F8F6"/>
                </a:solidFill>
                <a:latin typeface="Arial"/>
                <a:ea typeface="Arial"/>
                <a:cs typeface="Arial"/>
                <a:sym typeface="Arial"/>
              </a:rPr>
              <a:t>El trabajo colaborativo y la validación continua serán claves para construir una solución útil.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88997" y="8308972"/>
            <a:ext cx="16383000" cy="898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Los tres integrantes aportan capacidades complementarias para desarrollar y validar AutoGest Aconcagua.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32D37">
                <a:alpha val="100000"/>
              </a:srgbClr>
            </a:gs>
            <a:gs pos="100000">
              <a:srgbClr val="18433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8997" y="434978"/>
            <a:ext cx="3048000" cy="44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AutoGest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1703" y="895350"/>
            <a:ext cx="3174997" cy="29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ACONCAGUA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47997" y="504825"/>
            <a:ext cx="819299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5799" b="true">
                <a:solidFill>
                  <a:srgbClr val="436C6E"/>
                </a:solidFill>
                <a:latin typeface="Arial Bold"/>
                <a:ea typeface="Arial Bold"/>
                <a:cs typeface="Arial Bold"/>
                <a:sym typeface="Arial Bold"/>
              </a:rPr>
              <a:t>24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09997" y="9505950"/>
            <a:ext cx="88899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8997" y="9505950"/>
            <a:ext cx="7620000" cy="3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ABC2C6"/>
                </a:solidFill>
                <a:latin typeface="Arial"/>
                <a:ea typeface="Arial"/>
                <a:cs typeface="Arial"/>
                <a:sym typeface="Arial"/>
              </a:rPr>
              <a:t>Sistema de Gestión Automotriz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8997" y="2638425"/>
            <a:ext cx="15240000" cy="917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9CD6C6"/>
                </a:solidFill>
                <a:latin typeface="Arial Bold"/>
                <a:ea typeface="Arial Bold"/>
                <a:cs typeface="Arial Bold"/>
                <a:sym typeface="Arial Bold"/>
              </a:rPr>
              <a:t>AutoGest Aconcagua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997" y="3870322"/>
            <a:ext cx="16002000" cy="2949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9"/>
              </a:lnSpc>
            </a:pPr>
            <a:r>
              <a:rPr lang="en-US" sz="81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¡Gracias por</a:t>
            </a:r>
          </a:p>
          <a:p>
            <a:pPr algn="l">
              <a:lnSpc>
                <a:spcPts val="9839"/>
              </a:lnSpc>
            </a:pPr>
            <a:r>
              <a:rPr lang="en-US" sz="81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su atención!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7245353"/>
            <a:ext cx="14604997" cy="844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B6D0D3"/>
                </a:solidFill>
                <a:latin typeface="Arial"/>
                <a:ea typeface="Arial"/>
                <a:cs typeface="Arial"/>
                <a:sym typeface="Arial"/>
              </a:rPr>
              <a:t>Sistema de Gestión Automotriz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DAHX0TKeebc</dc:identifier>
  <dcterms:modified xsi:type="dcterms:W3CDTF">2011-08-01T06:04:30Z</dcterms:modified>
  <cp:revision>1</cp:revision>
  <dc:title>AutoGest_Aconcagua_Defensa_Oscura.pptx</dc:title>
</cp:coreProperties>
</file>